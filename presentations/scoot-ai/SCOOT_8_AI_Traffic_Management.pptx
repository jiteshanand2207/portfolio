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jpeg" ContentType="image/jpeg"/>
  <Default Extension="png" ContentType="image/p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1695" cy="68580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 Master"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</p:spTree>
  </p:cSld>
  <p:clrMap accent1="accent1" accent2="accent2" accent3="accent3" accent4="accent4" accent5="accent5" accent6="accent6" bg1="dk2" bg2="dk1" folHlink="folHlink" hlink="hlink" tx1="lt1" tx2="lt2"/>
  <p:sldLayoutIdLst>
    <p:sldLayoutId id="1" r:id="rId1"/>
  </p:sldLayoutIdLst>
  <p:txStyles>
    <p:titleStyle>
      <a:lvl1pPr algn="l">
        <a:defRPr sz="2800" b="1"/>
      </a:lvl1pPr>
    </p:titleStyle>
    <p:bodyStyle>
      <a:lvl1pPr marL="0" indent="0">
        <a:defRPr sz="1800"/>
      </a:lvl1pPr>
    </p:bodyStyle>
    <p:otherStyle>
      <a:defPPr>
        <a:defRPr lang="en-US"/>
      </a:defPPr>
      <a:lvl1pPr marL="0" indent="0"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Relationship Id="rId3" Type="http://schemas.openxmlformats.org/officeDocument/2006/relationships/image" Target="../media/image15.jpg"/><Relationship Id="rId4" Type="http://schemas.openxmlformats.org/officeDocument/2006/relationships/image" Target="../media/image18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9.jpg"/><Relationship Id="rId4" Type="http://schemas.openxmlformats.org/officeDocument/2006/relationships/image" Target="../media/image3.jpg"/><Relationship Id="rId5" Type="http://schemas.openxmlformats.org/officeDocument/2006/relationships/image" Target="../media/image16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6.jpg"/><Relationship Id="rId5" Type="http://schemas.openxmlformats.org/officeDocument/2006/relationships/image" Target="../media/image1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9.jpg"/><Relationship Id="rId4" Type="http://schemas.openxmlformats.org/officeDocument/2006/relationships/image" Target="../media/image16.jpg"/><Relationship Id="rId5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pic>
        <p:nvPicPr>
          <p:cNvPr id="3" name="Picture 4"/>
          <p:cNvPicPr>
            <a:picLocks noChangeAspect="1"/>
          </p:cNvPicPr>
          <p:nvPr/>
        </p:nvPicPr>
        <p:blipFill>
          <a:blip r:embed="rId2"/>
          <a:srcRect l="0" t="24574" r="0" b="2457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4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>
              <a:alpha val="53000"/>
            </a:srgbClr>
          </a:solidFill>
          <a:ln>
            <a:noFill/>
          </a:ln>
        </p:spPr>
      </p:sp>
      <p:sp>
        <p:nvSpPr>
          <p:cNvPr id="5" name="Shape 6"/>
          <p:cNvSpPr/>
          <p:nvPr/>
        </p:nvSpPr>
        <p:spPr>
          <a:xfrm>
            <a:off x="0" y="0"/>
            <a:ext cx="6903720" cy="6858000"/>
          </a:xfrm>
          <a:prstGeom prst="rect">
            <a:avLst/>
          </a:prstGeom>
          <a:solidFill>
            <a:srgbClr val="07131F">
              <a:alpha val="87000"/>
            </a:srgbClr>
          </a:solidFill>
          <a:ln>
            <a:noFill/>
          </a:ln>
        </p:spPr>
      </p:sp>
      <p:sp>
        <p:nvSpPr>
          <p:cNvPr id="6" name="TextBox 7"/>
          <p:cNvSpPr txBox="1"/>
          <p:nvPr/>
        </p:nvSpPr>
        <p:spPr>
          <a:xfrm>
            <a:off x="566928" y="420624"/>
            <a:ext cx="1325880" cy="310896"/>
          </a:xfrm>
          <a:prstGeom prst="roundRect">
            <a:avLst/>
          </a:prstGeom>
          <a:solidFill>
            <a:srgbClr val="B7F34A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ctr"/>
            <a:r>
              <a:rPr lang="en-US" sz="1050" b="1">
                <a:solidFill>
                  <a:srgbClr val="06111A"/>
                </a:solidFill>
                <a:latin typeface="Aptos"/>
              </a:rPr>
              <a:t>SCOOT 8 AI</a:t>
            </a:r>
            <a:endParaRPr lang="en-US" sz="1050">
              <a:solidFill>
                <a:srgbClr val="06111A"/>
              </a:solidFill>
              <a:latin typeface="Aptos"/>
            </a:endParaRPr>
          </a:p>
        </p:txBody>
      </p:sp>
      <p:sp>
        <p:nvSpPr>
          <p:cNvPr id="7" name="TextBox 8"/>
          <p:cNvSpPr txBox="1"/>
          <p:nvPr/>
        </p:nvSpPr>
        <p:spPr>
          <a:xfrm>
            <a:off x="566928" y="1005840"/>
            <a:ext cx="566928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3500" b="1">
                <a:solidFill>
                  <a:srgbClr val="F4F8FB"/>
                </a:solidFill>
                <a:latin typeface="Aptos"/>
              </a:rPr>
              <a:t>TRAFFIC</a:t>
            </a:r>
            <a:endParaRPr lang="en-US" sz="3500">
              <a:solidFill>
                <a:srgbClr val="F4F8FB"/>
              </a:solidFill>
              <a:latin typeface="Aptos"/>
            </a:endParaRPr>
          </a:p>
          <a:p>
            <a:pPr algn="l"/>
            <a:r>
              <a:rPr lang="en-US" sz="3500" b="1">
                <a:solidFill>
                  <a:srgbClr val="F4F8FB"/>
                </a:solidFill>
                <a:latin typeface="Aptos"/>
              </a:rPr>
              <a:t>MANAGEMENT</a:t>
            </a:r>
            <a:endParaRPr lang="en-US" sz="3500">
              <a:solidFill>
                <a:srgbClr val="F4F8FB"/>
              </a:solidFill>
              <a:latin typeface="Aptos"/>
            </a:endParaRPr>
          </a:p>
          <a:p>
            <a:pPr algn="l"/>
            <a:r>
              <a:rPr lang="en-US" sz="3500" b="1">
                <a:solidFill>
                  <a:srgbClr val="F4F8FB"/>
                </a:solidFill>
                <a:latin typeface="Aptos"/>
              </a:rPr>
              <a:t>SYSTEMS</a:t>
            </a:r>
            <a:endParaRPr lang="en-US" sz="3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8" name="TextBox 9"/>
          <p:cNvSpPr txBox="1"/>
          <p:nvPr/>
        </p:nvSpPr>
        <p:spPr>
          <a:xfrm>
            <a:off x="594360" y="3429000"/>
            <a:ext cx="5257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000">
                <a:solidFill>
                  <a:srgbClr val="19D3B3"/>
                </a:solidFill>
                <a:latin typeface="Aptos"/>
              </a:rPr>
              <a:t>Why cities need a live feedback loop</a:t>
            </a:r>
            <a:endParaRPr lang="en-US" sz="20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594360" y="4096512"/>
            <a:ext cx="52120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>
                <a:solidFill>
                  <a:srgbClr val="9DB3C2"/>
                </a:solidFill>
                <a:latin typeface="Aptos"/>
              </a:rPr>
              <a:t>Sense demand → coordinate signals → measure outcomes</a:t>
            </a:r>
            <a:endParaRPr lang="en-US" sz="13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0" name="Shape 11"/>
          <p:cNvSpPr/>
          <p:nvPr/>
        </p:nvSpPr>
        <p:spPr>
          <a:xfrm>
            <a:off x="7315200" y="731520"/>
            <a:ext cx="530352" cy="530352"/>
          </a:xfrm>
          <a:prstGeom prst="ellipse">
            <a:avLst/>
          </a:prstGeom>
          <a:solidFill>
            <a:srgbClr val="4EA1FF"/>
          </a:solidFill>
          <a:ln>
            <a:noFill/>
          </a:ln>
        </p:spPr>
      </p:sp>
      <p:sp>
        <p:nvSpPr>
          <p:cNvPr id="11" name="TextBox 12"/>
          <p:cNvSpPr txBox="1"/>
          <p:nvPr/>
        </p:nvSpPr>
        <p:spPr>
          <a:xfrm>
            <a:off x="7315200" y="73152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500" b="1">
                <a:solidFill>
                  <a:srgbClr val="06111A"/>
                </a:solidFill>
                <a:latin typeface="Aptos"/>
              </a:rPr>
              <a:t>1</a:t>
            </a:r>
            <a:endParaRPr lang="en-US" sz="15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12" name="TextBox 13"/>
          <p:cNvSpPr txBox="1"/>
          <p:nvPr/>
        </p:nvSpPr>
        <p:spPr>
          <a:xfrm>
            <a:off x="8065008" y="76809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F4F8FB"/>
                </a:solidFill>
                <a:latin typeface="Aptos"/>
              </a:rPr>
              <a:t>SENSE</a:t>
            </a:r>
            <a:endParaRPr lang="en-US" sz="14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3" name="Shape 14"/>
          <p:cNvSpPr/>
          <p:nvPr/>
        </p:nvSpPr>
        <p:spPr>
          <a:xfrm>
            <a:off x="7562088" y="1271016"/>
            <a:ext cx="36576" cy="530352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4" name="Shape 15"/>
          <p:cNvSpPr/>
          <p:nvPr/>
        </p:nvSpPr>
        <p:spPr>
          <a:xfrm>
            <a:off x="7315200" y="1783080"/>
            <a:ext cx="530352" cy="53035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5" name="TextBox 16"/>
          <p:cNvSpPr txBox="1"/>
          <p:nvPr/>
        </p:nvSpPr>
        <p:spPr>
          <a:xfrm>
            <a:off x="7315200" y="17830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500" b="1">
                <a:solidFill>
                  <a:srgbClr val="06111A"/>
                </a:solidFill>
                <a:latin typeface="Aptos"/>
              </a:rPr>
              <a:t>2</a:t>
            </a:r>
            <a:endParaRPr lang="en-US" sz="15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16" name="TextBox 17"/>
          <p:cNvSpPr txBox="1"/>
          <p:nvPr/>
        </p:nvSpPr>
        <p:spPr>
          <a:xfrm>
            <a:off x="8065008" y="181965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F4F8FB"/>
                </a:solidFill>
                <a:latin typeface="Aptos"/>
              </a:rPr>
              <a:t>UNDERSTAND</a:t>
            </a:r>
            <a:endParaRPr lang="en-US" sz="14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7" name="Shape 18"/>
          <p:cNvSpPr/>
          <p:nvPr/>
        </p:nvSpPr>
        <p:spPr>
          <a:xfrm>
            <a:off x="7562088" y="2322576"/>
            <a:ext cx="36576" cy="530352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8" name="Shape 19"/>
          <p:cNvSpPr/>
          <p:nvPr/>
        </p:nvSpPr>
        <p:spPr>
          <a:xfrm>
            <a:off x="7315200" y="2834640"/>
            <a:ext cx="530352" cy="530352"/>
          </a:xfrm>
          <a:prstGeom prst="ellipse">
            <a:avLst/>
          </a:prstGeom>
          <a:solidFill>
            <a:srgbClr val="FFB547"/>
          </a:solidFill>
          <a:ln>
            <a:noFill/>
          </a:ln>
        </p:spPr>
      </p:sp>
      <p:sp>
        <p:nvSpPr>
          <p:cNvPr id="19" name="TextBox 20"/>
          <p:cNvSpPr txBox="1"/>
          <p:nvPr/>
        </p:nvSpPr>
        <p:spPr>
          <a:xfrm>
            <a:off x="7315200" y="283464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500" b="1">
                <a:solidFill>
                  <a:srgbClr val="06111A"/>
                </a:solidFill>
                <a:latin typeface="Aptos"/>
              </a:rPr>
              <a:t>3</a:t>
            </a:r>
            <a:endParaRPr lang="en-US" sz="15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8065008" y="287121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F4F8FB"/>
                </a:solidFill>
                <a:latin typeface="Aptos"/>
              </a:rPr>
              <a:t>DECIDE</a:t>
            </a:r>
            <a:endParaRPr lang="en-US" sz="14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1" name="Shape 22"/>
          <p:cNvSpPr/>
          <p:nvPr/>
        </p:nvSpPr>
        <p:spPr>
          <a:xfrm>
            <a:off x="7562088" y="3374136"/>
            <a:ext cx="36576" cy="530352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2" name="Shape 23"/>
          <p:cNvSpPr/>
          <p:nvPr/>
        </p:nvSpPr>
        <p:spPr>
          <a:xfrm>
            <a:off x="7315200" y="3886200"/>
            <a:ext cx="530352" cy="530352"/>
          </a:xfrm>
          <a:prstGeom prst="ellipse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23" name="TextBox 24"/>
          <p:cNvSpPr txBox="1"/>
          <p:nvPr/>
        </p:nvSpPr>
        <p:spPr>
          <a:xfrm>
            <a:off x="7315200" y="3886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500" b="1">
                <a:solidFill>
                  <a:srgbClr val="06111A"/>
                </a:solidFill>
                <a:latin typeface="Aptos"/>
              </a:rPr>
              <a:t>4</a:t>
            </a:r>
            <a:endParaRPr lang="en-US" sz="15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24" name="TextBox 25"/>
          <p:cNvSpPr txBox="1"/>
          <p:nvPr/>
        </p:nvSpPr>
        <p:spPr>
          <a:xfrm>
            <a:off x="8065008" y="392277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F4F8FB"/>
                </a:solidFill>
                <a:latin typeface="Aptos"/>
              </a:rPr>
              <a:t>ACT</a:t>
            </a:r>
            <a:endParaRPr lang="en-US" sz="14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5" name="Shape 26"/>
          <p:cNvSpPr/>
          <p:nvPr/>
        </p:nvSpPr>
        <p:spPr>
          <a:xfrm>
            <a:off x="7562088" y="4425696"/>
            <a:ext cx="36576" cy="530352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6" name="Shape 27"/>
          <p:cNvSpPr/>
          <p:nvPr/>
        </p:nvSpPr>
        <p:spPr>
          <a:xfrm>
            <a:off x="7315200" y="4937760"/>
            <a:ext cx="530352" cy="530352"/>
          </a:xfrm>
          <a:prstGeom prst="ellipse">
            <a:avLst/>
          </a:prstGeom>
          <a:solidFill>
            <a:srgbClr val="B7F34A"/>
          </a:solidFill>
          <a:ln>
            <a:noFill/>
          </a:ln>
        </p:spPr>
      </p:sp>
      <p:sp>
        <p:nvSpPr>
          <p:cNvPr id="27" name="TextBox 28"/>
          <p:cNvSpPr txBox="1"/>
          <p:nvPr/>
        </p:nvSpPr>
        <p:spPr>
          <a:xfrm>
            <a:off x="7315200" y="493776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500" b="1">
                <a:solidFill>
                  <a:srgbClr val="06111A"/>
                </a:solidFill>
                <a:latin typeface="Aptos"/>
              </a:rPr>
              <a:t>5</a:t>
            </a:r>
            <a:endParaRPr lang="en-US" sz="15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28" name="TextBox 29"/>
          <p:cNvSpPr txBox="1"/>
          <p:nvPr/>
        </p:nvSpPr>
        <p:spPr>
          <a:xfrm>
            <a:off x="8065008" y="497433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F4F8FB"/>
                </a:solidFill>
                <a:latin typeface="Aptos"/>
              </a:rPr>
              <a:t>LEARN</a:t>
            </a:r>
            <a:endParaRPr lang="en-US" sz="14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9" name="TextBox 30"/>
          <p:cNvSpPr txBox="1"/>
          <p:nvPr/>
        </p:nvSpPr>
        <p:spPr>
          <a:xfrm>
            <a:off x="594360" y="5989320"/>
            <a:ext cx="5715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>
                <a:solidFill>
                  <a:srgbClr val="9DB3C2"/>
                </a:solidFill>
                <a:latin typeface="Aptos"/>
              </a:rPr>
              <a:t>Jitesh Anand  •  Roll 124109004  •  IIoT A-(1)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0" name="TextBox 31"/>
          <p:cNvSpPr txBox="1"/>
          <p:nvPr/>
        </p:nvSpPr>
        <p:spPr>
          <a:xfrm>
            <a:off x="8065008" y="5532120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F4F8FB"/>
                </a:solidFill>
                <a:latin typeface="Aptos"/>
              </a:rPr>
              <a:t>Traffic is dynamic.</a:t>
            </a:r>
            <a:endParaRPr lang="en-US" sz="1500">
              <a:solidFill>
                <a:srgbClr val="F4F8FB"/>
              </a:solidFill>
              <a:latin typeface="Aptos"/>
            </a:endParaRPr>
          </a:p>
          <a:p>
            <a:pPr algn="l"/>
            <a:r>
              <a:rPr lang="en-US" sz="1500" b="1">
                <a:solidFill>
                  <a:srgbClr val="F4F8FB"/>
                </a:solidFill>
                <a:latin typeface="Aptos"/>
              </a:rPr>
              <a:t>Signals must be dynamic too.</a:t>
            </a:r>
            <a:endParaRPr lang="en-US" sz="1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31" name="TextBox 32"/>
          <p:cNvSpPr txBox="1"/>
          <p:nvPr/>
        </p:nvSpPr>
        <p:spPr>
          <a:xfrm>
            <a:off x="548640" y="6565392"/>
            <a:ext cx="110642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Visual: internet-sourced traffic image • Source: Adaptive Traffic Signal Timer repository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THE NEED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Bengaluru: the cost of unmanaged demand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02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7" name="Shape 8"/>
          <p:cNvSpPr/>
          <p:nvPr/>
        </p:nvSpPr>
        <p:spPr>
          <a:xfrm>
            <a:off x="548640" y="1261872"/>
            <a:ext cx="3429000" cy="150876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8" name="TextBox 9"/>
          <p:cNvSpPr txBox="1"/>
          <p:nvPr/>
        </p:nvSpPr>
        <p:spPr>
          <a:xfrm>
            <a:off x="713232" y="1408176"/>
            <a:ext cx="3099816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FFB547"/>
                </a:solidFill>
                <a:latin typeface="Aptos"/>
              </a:rPr>
              <a:t>36:09</a:t>
            </a:r>
            <a:endParaRPr lang="en-US" sz="2800">
              <a:solidFill>
                <a:srgbClr val="FFB547"/>
              </a:solidFill>
              <a:latin typeface="Aptos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713232" y="2020824"/>
            <a:ext cx="3099816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per 10 km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713232" y="2359152"/>
            <a:ext cx="30998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30">
                <a:solidFill>
                  <a:srgbClr val="9DB3C2"/>
                </a:solidFill>
                <a:latin typeface="Aptos"/>
              </a:rPr>
              <a:t>average travel time</a:t>
            </a:r>
            <a:endParaRPr lang="en-US" sz="83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1" name="Shape 12"/>
          <p:cNvSpPr/>
          <p:nvPr/>
        </p:nvSpPr>
        <p:spPr>
          <a:xfrm>
            <a:off x="4379976" y="1261872"/>
            <a:ext cx="3429000" cy="150876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12" name="TextBox 13"/>
          <p:cNvSpPr txBox="1"/>
          <p:nvPr/>
        </p:nvSpPr>
        <p:spPr>
          <a:xfrm>
            <a:off x="4544568" y="1408176"/>
            <a:ext cx="3099816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FF667A"/>
                </a:solidFill>
                <a:latin typeface="Aptos"/>
              </a:rPr>
              <a:t>13.9 km/h</a:t>
            </a:r>
            <a:endParaRPr lang="en-US" sz="2800">
              <a:solidFill>
                <a:srgbClr val="FF667A"/>
              </a:solidFill>
              <a:latin typeface="Aptos"/>
            </a:endParaRPr>
          </a:p>
        </p:txBody>
      </p:sp>
      <p:sp>
        <p:nvSpPr>
          <p:cNvPr id="13" name="TextBox 14"/>
          <p:cNvSpPr txBox="1"/>
          <p:nvPr/>
        </p:nvSpPr>
        <p:spPr>
          <a:xfrm>
            <a:off x="4544568" y="2020824"/>
            <a:ext cx="3099816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rush-hour speed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4" name="TextBox 15"/>
          <p:cNvSpPr txBox="1"/>
          <p:nvPr/>
        </p:nvSpPr>
        <p:spPr>
          <a:xfrm>
            <a:off x="4544568" y="2359152"/>
            <a:ext cx="30998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30">
                <a:solidFill>
                  <a:srgbClr val="9DB3C2"/>
                </a:solidFill>
                <a:latin typeface="Aptos"/>
              </a:rPr>
              <a:t>citywide average</a:t>
            </a:r>
            <a:endParaRPr lang="en-US" sz="83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5" name="Shape 16"/>
          <p:cNvSpPr/>
          <p:nvPr/>
        </p:nvSpPr>
        <p:spPr>
          <a:xfrm>
            <a:off x="8211312" y="1261872"/>
            <a:ext cx="3429000" cy="150876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16" name="TextBox 17"/>
          <p:cNvSpPr txBox="1"/>
          <p:nvPr/>
        </p:nvSpPr>
        <p:spPr>
          <a:xfrm>
            <a:off x="8375904" y="1408176"/>
            <a:ext cx="3099816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B7F34A"/>
                </a:solidFill>
                <a:latin typeface="Aptos"/>
              </a:rPr>
              <a:t>168 h</a:t>
            </a:r>
            <a:endParaRPr lang="en-US" sz="28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17" name="TextBox 18"/>
          <p:cNvSpPr txBox="1"/>
          <p:nvPr/>
        </p:nvSpPr>
        <p:spPr>
          <a:xfrm>
            <a:off x="8375904" y="2020824"/>
            <a:ext cx="3099816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lost each year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8" name="TextBox 19"/>
          <p:cNvSpPr txBox="1"/>
          <p:nvPr/>
        </p:nvSpPr>
        <p:spPr>
          <a:xfrm>
            <a:off x="8375904" y="2359152"/>
            <a:ext cx="30998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30">
                <a:solidFill>
                  <a:srgbClr val="9DB3C2"/>
                </a:solidFill>
                <a:latin typeface="Aptos"/>
              </a:rPr>
              <a:t>per rush-hour driver</a:t>
            </a:r>
            <a:endParaRPr lang="en-US" sz="83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9" name="TextBox 20"/>
          <p:cNvSpPr txBox="1"/>
          <p:nvPr/>
        </p:nvSpPr>
        <p:spPr>
          <a:xfrm>
            <a:off x="658368" y="3154680"/>
            <a:ext cx="55321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300" b="1">
                <a:solidFill>
                  <a:srgbClr val="F4F8FB"/>
                </a:solidFill>
                <a:latin typeface="Aptos"/>
              </a:rPr>
              <a:t>Demand changes by minute; fixed plans change by schedule.</a:t>
            </a:r>
            <a:endParaRPr lang="en-US" sz="2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685800" y="4069080"/>
            <a:ext cx="5440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>
                <a:solidFill>
                  <a:srgbClr val="9DB3C2"/>
                </a:solidFill>
                <a:latin typeface="Aptos"/>
              </a:rPr>
              <a:t>Weather • events • crashes • school peaks • bus bunching</a:t>
            </a:r>
            <a:endParaRPr lang="en-US" sz="1200">
              <a:solidFill>
                <a:srgbClr val="9DB3C2"/>
              </a:solidFill>
              <a:latin typeface="Aptos"/>
            </a:endParaRPr>
          </a:p>
        </p:txBody>
      </p:sp>
      <p:pic>
        <p:nvPicPr>
          <p:cNvPr id="21" name="Picture 22"/>
          <p:cNvPicPr>
            <a:picLocks noChangeAspect="1"/>
          </p:cNvPicPr>
          <p:nvPr/>
        </p:nvPicPr>
        <p:blipFill>
          <a:blip r:embed="rId2"/>
          <a:srcRect l="26500" t="0" r="26500" b="0"/>
          <a:stretch>
            <a:fillRect/>
          </a:stretch>
        </p:blipFill>
        <p:spPr>
          <a:xfrm>
            <a:off x="6400800" y="3108960"/>
            <a:ext cx="1600200" cy="2560320"/>
          </a:xfrm>
          <a:prstGeom prst="rect">
            <a:avLst/>
          </a:prstGeom>
          <a:ln>
            <a:noFill/>
          </a:ln>
        </p:spPr>
      </p:pic>
      <p:sp>
        <p:nvSpPr>
          <p:cNvPr id="22" name="Shape 23"/>
          <p:cNvSpPr/>
          <p:nvPr/>
        </p:nvSpPr>
        <p:spPr>
          <a:xfrm>
            <a:off x="6400800" y="3108960"/>
            <a:ext cx="1600200" cy="2560320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pic>
        <p:nvPicPr>
          <p:cNvPr id="23" name="Picture 24"/>
          <p:cNvPicPr>
            <a:picLocks noChangeAspect="1"/>
          </p:cNvPicPr>
          <p:nvPr/>
        </p:nvPicPr>
        <p:blipFill>
          <a:blip r:embed="rId3"/>
          <a:srcRect l="3125" t="0" r="3125" b="0"/>
          <a:stretch>
            <a:fillRect/>
          </a:stretch>
        </p:blipFill>
        <p:spPr>
          <a:xfrm>
            <a:off x="8165592" y="3108960"/>
            <a:ext cx="1600200" cy="2560320"/>
          </a:xfrm>
          <a:prstGeom prst="rect">
            <a:avLst/>
          </a:prstGeom>
          <a:ln>
            <a:noFill/>
          </a:ln>
        </p:spPr>
      </p:pic>
      <p:sp>
        <p:nvSpPr>
          <p:cNvPr id="24" name="Shape 25"/>
          <p:cNvSpPr/>
          <p:nvPr/>
        </p:nvSpPr>
        <p:spPr>
          <a:xfrm>
            <a:off x="8165592" y="3108960"/>
            <a:ext cx="1600200" cy="2560320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pic>
        <p:nvPicPr>
          <p:cNvPr id="25" name="Picture 26"/>
          <p:cNvPicPr>
            <a:picLocks noChangeAspect="1"/>
          </p:cNvPicPr>
          <p:nvPr/>
        </p:nvPicPr>
        <p:blipFill>
          <a:blip r:embed="rId4"/>
          <a:srcRect l="28875" t="0" r="28875" b="0"/>
          <a:stretch>
            <a:fillRect/>
          </a:stretch>
        </p:blipFill>
        <p:spPr>
          <a:xfrm>
            <a:off x="9930384" y="3108960"/>
            <a:ext cx="1600200" cy="2560320"/>
          </a:xfrm>
          <a:prstGeom prst="rect">
            <a:avLst/>
          </a:prstGeom>
          <a:ln>
            <a:noFill/>
          </a:ln>
        </p:spPr>
      </p:pic>
      <p:sp>
        <p:nvSpPr>
          <p:cNvPr id="26" name="Shape 27"/>
          <p:cNvSpPr/>
          <p:nvPr/>
        </p:nvSpPr>
        <p:spPr>
          <a:xfrm>
            <a:off x="9930384" y="3108960"/>
            <a:ext cx="1600200" cy="2560320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sp>
        <p:nvSpPr>
          <p:cNvPr id="27" name="TextBox 28"/>
          <p:cNvSpPr txBox="1"/>
          <p:nvPr/>
        </p:nvSpPr>
        <p:spPr>
          <a:xfrm>
            <a:off x="685800" y="4910328"/>
            <a:ext cx="1828800" cy="310896"/>
          </a:xfrm>
          <a:prstGeom prst="roundRect">
            <a:avLst/>
          </a:prstGeom>
          <a:solidFill>
            <a:srgbClr val="FF667A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ctr"/>
            <a:r>
              <a:rPr lang="en-US" sz="1050" b="1">
                <a:solidFill>
                  <a:srgbClr val="06111A"/>
                </a:solidFill>
                <a:latin typeface="Aptos"/>
              </a:rPr>
              <a:t>74.4% congestion</a:t>
            </a:r>
            <a:endParaRPr lang="en-US" sz="1050">
              <a:solidFill>
                <a:srgbClr val="06111A"/>
              </a:solidFill>
              <a:latin typeface="Aptos"/>
            </a:endParaRPr>
          </a:p>
        </p:txBody>
      </p:sp>
      <p:sp>
        <p:nvSpPr>
          <p:cNvPr id="28" name="TextBox 29"/>
          <p:cNvSpPr txBox="1"/>
          <p:nvPr/>
        </p:nvSpPr>
        <p:spPr>
          <a:xfrm>
            <a:off x="2788920" y="4928616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00" b="1">
                <a:solidFill>
                  <a:srgbClr val="9DB3C2"/>
                </a:solidFill>
                <a:latin typeface="Aptos"/>
              </a:rPr>
              <a:t>2025</a:t>
            </a:r>
            <a:endParaRPr lang="en-US" sz="11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9" name="Shape 30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0" name="TextBox 31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Traffic figures: TomTom Traffic Index, Bengaluru 2025 • City images: Wikispeedia/Wikipedia archive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31" name="TextBox 32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WHY ADAPTIVE CONTROL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From fixed-time to predictive control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03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7" name="Shape 8"/>
          <p:cNvSpPr/>
          <p:nvPr/>
        </p:nvSpPr>
        <p:spPr>
          <a:xfrm>
            <a:off x="640080" y="1371600"/>
            <a:ext cx="3063240" cy="4297680"/>
          </a:xfrm>
          <a:prstGeom prst="roundRect">
            <a:avLst/>
          </a:prstGeom>
          <a:solidFill>
            <a:srgbClr val="0E2332"/>
          </a:solidFill>
          <a:ln w="20320">
            <a:solidFill>
              <a:srgbClr val="FF667A"/>
            </a:solidFill>
            <a:prstDash val="solid"/>
          </a:ln>
        </p:spPr>
      </p:sp>
      <p:sp>
        <p:nvSpPr>
          <p:cNvPr id="8" name="Shape 9"/>
          <p:cNvSpPr/>
          <p:nvPr/>
        </p:nvSpPr>
        <p:spPr>
          <a:xfrm>
            <a:off x="1783080" y="1673352"/>
            <a:ext cx="777240" cy="777240"/>
          </a:xfrm>
          <a:prstGeom prst="ellipse">
            <a:avLst/>
          </a:prstGeom>
          <a:solidFill>
            <a:srgbClr val="FF667A"/>
          </a:solidFill>
          <a:ln>
            <a:noFill/>
          </a:ln>
        </p:spPr>
      </p:sp>
      <p:sp>
        <p:nvSpPr>
          <p:cNvPr id="9" name="TextBox 10"/>
          <p:cNvSpPr txBox="1"/>
          <p:nvPr/>
        </p:nvSpPr>
        <p:spPr>
          <a:xfrm>
            <a:off x="1783080" y="167335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300" b="1">
                <a:solidFill>
                  <a:srgbClr val="06111A"/>
                </a:solidFill>
                <a:latin typeface="Aptos"/>
              </a:rPr>
              <a:t>⏱</a:t>
            </a:r>
            <a:endParaRPr lang="en-US" sz="23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868680" y="269748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4F8FB"/>
                </a:solidFill>
                <a:latin typeface="Aptos"/>
              </a:rPr>
              <a:t>FIXED</a:t>
            </a:r>
            <a:endParaRPr lang="en-US" sz="20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1" name="TextBox 12"/>
          <p:cNvSpPr txBox="1"/>
          <p:nvPr/>
        </p:nvSpPr>
        <p:spPr>
          <a:xfrm>
            <a:off x="868680" y="3182112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FF667A"/>
                </a:solidFill>
                <a:latin typeface="Aptos"/>
              </a:rPr>
              <a:t>Repeat a plan</a:t>
            </a:r>
            <a:endParaRPr lang="en-US" sz="1200">
              <a:solidFill>
                <a:srgbClr val="FF667A"/>
              </a:solidFill>
              <a:latin typeface="Aptos"/>
            </a:endParaRPr>
          </a:p>
        </p:txBody>
      </p:sp>
      <p:sp>
        <p:nvSpPr>
          <p:cNvPr id="12" name="Shape 13"/>
          <p:cNvSpPr/>
          <p:nvPr/>
        </p:nvSpPr>
        <p:spPr>
          <a:xfrm>
            <a:off x="4251960" y="1371600"/>
            <a:ext cx="3063240" cy="4297680"/>
          </a:xfrm>
          <a:prstGeom prst="roundRect">
            <a:avLst/>
          </a:prstGeom>
          <a:solidFill>
            <a:srgbClr val="0E2332"/>
          </a:solidFill>
          <a:ln w="20320">
            <a:solidFill>
              <a:srgbClr val="19D3B3"/>
            </a:solidFill>
            <a:prstDash val="solid"/>
          </a:ln>
        </p:spPr>
      </p:sp>
      <p:sp>
        <p:nvSpPr>
          <p:cNvPr id="13" name="Shape 14"/>
          <p:cNvSpPr/>
          <p:nvPr/>
        </p:nvSpPr>
        <p:spPr>
          <a:xfrm>
            <a:off x="5394960" y="1673352"/>
            <a:ext cx="777240" cy="777240"/>
          </a:xfrm>
          <a:prstGeom prst="ellipse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14" name="TextBox 15"/>
          <p:cNvSpPr txBox="1"/>
          <p:nvPr/>
        </p:nvSpPr>
        <p:spPr>
          <a:xfrm>
            <a:off x="5394960" y="167335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300" b="1">
                <a:solidFill>
                  <a:srgbClr val="06111A"/>
                </a:solidFill>
                <a:latin typeface="Aptos"/>
              </a:rPr>
              <a:t>↻</a:t>
            </a:r>
            <a:endParaRPr lang="en-US" sz="23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15" name="TextBox 16"/>
          <p:cNvSpPr txBox="1"/>
          <p:nvPr/>
        </p:nvSpPr>
        <p:spPr>
          <a:xfrm>
            <a:off x="4480560" y="269748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4F8FB"/>
                </a:solidFill>
                <a:latin typeface="Aptos"/>
              </a:rPr>
              <a:t>ADAPTIVE</a:t>
            </a:r>
            <a:endParaRPr lang="en-US" sz="20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6" name="TextBox 17"/>
          <p:cNvSpPr txBox="1"/>
          <p:nvPr/>
        </p:nvSpPr>
        <p:spPr>
          <a:xfrm>
            <a:off x="4480560" y="3182112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19D3B3"/>
                </a:solidFill>
                <a:latin typeface="Aptos"/>
              </a:rPr>
              <a:t>Respond to now</a:t>
            </a:r>
            <a:endParaRPr lang="en-US" sz="12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17" name="Shape 18"/>
          <p:cNvSpPr/>
          <p:nvPr/>
        </p:nvSpPr>
        <p:spPr>
          <a:xfrm>
            <a:off x="7863840" y="1371600"/>
            <a:ext cx="3063240" cy="4297680"/>
          </a:xfrm>
          <a:prstGeom prst="roundRect">
            <a:avLst/>
          </a:prstGeom>
          <a:solidFill>
            <a:srgbClr val="0E2332"/>
          </a:solidFill>
          <a:ln w="20320">
            <a:solidFill>
              <a:srgbClr val="B7F34A"/>
            </a:solidFill>
            <a:prstDash val="solid"/>
          </a:ln>
        </p:spPr>
      </p:sp>
      <p:sp>
        <p:nvSpPr>
          <p:cNvPr id="18" name="Shape 19"/>
          <p:cNvSpPr/>
          <p:nvPr/>
        </p:nvSpPr>
        <p:spPr>
          <a:xfrm>
            <a:off x="9006840" y="1673352"/>
            <a:ext cx="777240" cy="777240"/>
          </a:xfrm>
          <a:prstGeom prst="ellipse">
            <a:avLst/>
          </a:prstGeom>
          <a:solidFill>
            <a:srgbClr val="B7F34A"/>
          </a:solidFill>
          <a:ln>
            <a:noFill/>
          </a:ln>
        </p:spPr>
      </p:sp>
      <p:sp>
        <p:nvSpPr>
          <p:cNvPr id="19" name="TextBox 20"/>
          <p:cNvSpPr txBox="1"/>
          <p:nvPr/>
        </p:nvSpPr>
        <p:spPr>
          <a:xfrm>
            <a:off x="9006840" y="167335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700" b="1">
                <a:solidFill>
                  <a:srgbClr val="06111A"/>
                </a:solidFill>
                <a:latin typeface="Aptos"/>
              </a:rPr>
              <a:t>+30</a:t>
            </a:r>
            <a:endParaRPr lang="en-US" sz="17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8092440" y="269748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4F8FB"/>
                </a:solidFill>
                <a:latin typeface="Aptos"/>
              </a:rPr>
              <a:t>PREDICTIVE</a:t>
            </a:r>
            <a:endParaRPr lang="en-US" sz="20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1" name="TextBox 22"/>
          <p:cNvSpPr txBox="1"/>
          <p:nvPr/>
        </p:nvSpPr>
        <p:spPr>
          <a:xfrm>
            <a:off x="8092440" y="3182112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B7F34A"/>
                </a:solidFill>
                <a:latin typeface="Aptos"/>
              </a:rPr>
              <a:t>Prepare for next</a:t>
            </a:r>
            <a:endParaRPr lang="en-US" sz="12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22" name="Shape 23"/>
          <p:cNvSpPr/>
          <p:nvPr/>
        </p:nvSpPr>
        <p:spPr>
          <a:xfrm>
            <a:off x="932688" y="3913632"/>
            <a:ext cx="310896" cy="502920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23" name="Shape 24"/>
          <p:cNvSpPr/>
          <p:nvPr/>
        </p:nvSpPr>
        <p:spPr>
          <a:xfrm>
            <a:off x="1344168" y="3913632"/>
            <a:ext cx="310896" cy="502920"/>
          </a:xfrm>
          <a:prstGeom prst="roundRect">
            <a:avLst/>
          </a:prstGeom>
          <a:solidFill>
            <a:srgbClr val="FFB547"/>
          </a:solidFill>
          <a:ln>
            <a:noFill/>
          </a:ln>
        </p:spPr>
      </p:sp>
      <p:sp>
        <p:nvSpPr>
          <p:cNvPr id="24" name="Shape 25"/>
          <p:cNvSpPr/>
          <p:nvPr/>
        </p:nvSpPr>
        <p:spPr>
          <a:xfrm>
            <a:off x="1755648" y="3913632"/>
            <a:ext cx="310896" cy="502920"/>
          </a:xfrm>
          <a:prstGeom prst="roundRect">
            <a:avLst/>
          </a:prstGeom>
          <a:solidFill>
            <a:srgbClr val="FF667A"/>
          </a:solidFill>
          <a:ln>
            <a:noFill/>
          </a:ln>
        </p:spPr>
      </p:sp>
      <p:sp>
        <p:nvSpPr>
          <p:cNvPr id="25" name="Shape 26"/>
          <p:cNvSpPr/>
          <p:nvPr/>
        </p:nvSpPr>
        <p:spPr>
          <a:xfrm>
            <a:off x="2167128" y="3913632"/>
            <a:ext cx="310896" cy="502920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26" name="Shape 27"/>
          <p:cNvSpPr/>
          <p:nvPr/>
        </p:nvSpPr>
        <p:spPr>
          <a:xfrm>
            <a:off x="2578608" y="3913632"/>
            <a:ext cx="310896" cy="502920"/>
          </a:xfrm>
          <a:prstGeom prst="roundRect">
            <a:avLst/>
          </a:prstGeom>
          <a:solidFill>
            <a:srgbClr val="FFB547"/>
          </a:solidFill>
          <a:ln>
            <a:noFill/>
          </a:ln>
        </p:spPr>
      </p:sp>
      <p:sp>
        <p:nvSpPr>
          <p:cNvPr id="27" name="Shape 28"/>
          <p:cNvSpPr/>
          <p:nvPr/>
        </p:nvSpPr>
        <p:spPr>
          <a:xfrm>
            <a:off x="2990088" y="3913632"/>
            <a:ext cx="310896" cy="502920"/>
          </a:xfrm>
          <a:prstGeom prst="roundRect">
            <a:avLst/>
          </a:prstGeom>
          <a:solidFill>
            <a:srgbClr val="FF667A"/>
          </a:solidFill>
          <a:ln>
            <a:noFill/>
          </a:ln>
        </p:spPr>
      </p:sp>
      <p:sp>
        <p:nvSpPr>
          <p:cNvPr id="28" name="TextBox 29"/>
          <p:cNvSpPr txBox="1"/>
          <p:nvPr/>
        </p:nvSpPr>
        <p:spPr>
          <a:xfrm>
            <a:off x="1005840" y="4608576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same sequence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9" name="Shape 30"/>
          <p:cNvSpPr/>
          <p:nvPr/>
        </p:nvSpPr>
        <p:spPr>
          <a:xfrm>
            <a:off x="4754880" y="4617720"/>
            <a:ext cx="283464" cy="320040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30" name="Shape 31"/>
          <p:cNvSpPr/>
          <p:nvPr/>
        </p:nvSpPr>
        <p:spPr>
          <a:xfrm>
            <a:off x="5193792" y="4251960"/>
            <a:ext cx="283464" cy="685800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31" name="Shape 32"/>
          <p:cNvSpPr/>
          <p:nvPr/>
        </p:nvSpPr>
        <p:spPr>
          <a:xfrm>
            <a:off x="5632704" y="4480560"/>
            <a:ext cx="283464" cy="457200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32" name="Shape 33"/>
          <p:cNvSpPr/>
          <p:nvPr/>
        </p:nvSpPr>
        <p:spPr>
          <a:xfrm>
            <a:off x="6071616" y="4023360"/>
            <a:ext cx="283464" cy="914400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33" name="Shape 34"/>
          <p:cNvSpPr/>
          <p:nvPr/>
        </p:nvSpPr>
        <p:spPr>
          <a:xfrm>
            <a:off x="6510528" y="4370832"/>
            <a:ext cx="283464" cy="566928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34" name="TextBox 35"/>
          <p:cNvSpPr txBox="1"/>
          <p:nvPr/>
        </p:nvSpPr>
        <p:spPr>
          <a:xfrm>
            <a:off x="4663440" y="508406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live demand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5" name="Shape 36"/>
          <p:cNvSpPr/>
          <p:nvPr/>
        </p:nvSpPr>
        <p:spPr>
          <a:xfrm>
            <a:off x="8302752" y="4681728"/>
            <a:ext cx="237744" cy="256032"/>
          </a:xfrm>
          <a:prstGeom prst="roundRect">
            <a:avLst/>
          </a:prstGeom>
          <a:solidFill>
            <a:srgbClr val="4EA1FF"/>
          </a:solidFill>
          <a:ln>
            <a:noFill/>
          </a:ln>
        </p:spPr>
      </p:sp>
      <p:sp>
        <p:nvSpPr>
          <p:cNvPr id="36" name="Shape 37"/>
          <p:cNvSpPr/>
          <p:nvPr/>
        </p:nvSpPr>
        <p:spPr>
          <a:xfrm>
            <a:off x="8695944" y="4608576"/>
            <a:ext cx="237744" cy="329184"/>
          </a:xfrm>
          <a:prstGeom prst="roundRect">
            <a:avLst/>
          </a:prstGeom>
          <a:solidFill>
            <a:srgbClr val="4EA1FF"/>
          </a:solidFill>
          <a:ln>
            <a:noFill/>
          </a:ln>
        </p:spPr>
      </p:sp>
      <p:sp>
        <p:nvSpPr>
          <p:cNvPr id="37" name="Shape 38"/>
          <p:cNvSpPr/>
          <p:nvPr/>
        </p:nvSpPr>
        <p:spPr>
          <a:xfrm>
            <a:off x="9089136" y="4434840"/>
            <a:ext cx="237744" cy="502920"/>
          </a:xfrm>
          <a:prstGeom prst="roundRect">
            <a:avLst/>
          </a:prstGeom>
          <a:solidFill>
            <a:srgbClr val="B7F34A"/>
          </a:solidFill>
          <a:ln>
            <a:noFill/>
          </a:ln>
        </p:spPr>
      </p:sp>
      <p:sp>
        <p:nvSpPr>
          <p:cNvPr id="38" name="Shape 39"/>
          <p:cNvSpPr/>
          <p:nvPr/>
        </p:nvSpPr>
        <p:spPr>
          <a:xfrm>
            <a:off x="9482328" y="4160520"/>
            <a:ext cx="237744" cy="777240"/>
          </a:xfrm>
          <a:prstGeom prst="roundRect">
            <a:avLst/>
          </a:prstGeom>
          <a:solidFill>
            <a:srgbClr val="B7F34A"/>
          </a:solidFill>
          <a:ln>
            <a:noFill/>
          </a:ln>
        </p:spPr>
      </p:sp>
      <p:sp>
        <p:nvSpPr>
          <p:cNvPr id="39" name="Shape 40"/>
          <p:cNvSpPr/>
          <p:nvPr/>
        </p:nvSpPr>
        <p:spPr>
          <a:xfrm>
            <a:off x="9875520" y="3840480"/>
            <a:ext cx="237744" cy="1097280"/>
          </a:xfrm>
          <a:prstGeom prst="roundRect">
            <a:avLst/>
          </a:prstGeom>
          <a:solidFill>
            <a:srgbClr val="B7F34A"/>
          </a:solidFill>
          <a:ln>
            <a:noFill/>
          </a:ln>
        </p:spPr>
      </p:sp>
      <p:sp>
        <p:nvSpPr>
          <p:cNvPr id="40" name="Shape 41"/>
          <p:cNvSpPr/>
          <p:nvPr/>
        </p:nvSpPr>
        <p:spPr>
          <a:xfrm>
            <a:off x="10268712" y="4096512"/>
            <a:ext cx="237744" cy="841248"/>
          </a:xfrm>
          <a:prstGeom prst="roundRect">
            <a:avLst/>
          </a:prstGeom>
          <a:solidFill>
            <a:srgbClr val="B7F34A"/>
          </a:solidFill>
          <a:ln>
            <a:noFill/>
          </a:ln>
        </p:spPr>
      </p:sp>
      <p:sp>
        <p:nvSpPr>
          <p:cNvPr id="41" name="TextBox 42"/>
          <p:cNvSpPr txBox="1"/>
          <p:nvPr/>
        </p:nvSpPr>
        <p:spPr>
          <a:xfrm>
            <a:off x="8339328" y="508406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forecast horizon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42" name="TextBox 43"/>
          <p:cNvSpPr txBox="1"/>
          <p:nvPr/>
        </p:nvSpPr>
        <p:spPr>
          <a:xfrm>
            <a:off x="8183880" y="3703320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4EA1FF"/>
                </a:solidFill>
                <a:latin typeface="Aptos"/>
              </a:rPr>
              <a:t>reactive</a:t>
            </a:r>
            <a:endParaRPr lang="en-US" sz="800">
              <a:solidFill>
                <a:srgbClr val="4EA1FF"/>
              </a:solidFill>
              <a:latin typeface="Aptos"/>
            </a:endParaRPr>
          </a:p>
        </p:txBody>
      </p:sp>
      <p:sp>
        <p:nvSpPr>
          <p:cNvPr id="43" name="TextBox 44"/>
          <p:cNvSpPr txBox="1"/>
          <p:nvPr/>
        </p:nvSpPr>
        <p:spPr>
          <a:xfrm>
            <a:off x="9619488" y="3703320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B7F34A"/>
                </a:solidFill>
                <a:latin typeface="Aptos"/>
              </a:rPr>
              <a:t>proactive</a:t>
            </a:r>
            <a:endParaRPr lang="en-US" sz="8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44" name="Shape 45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45" name="TextBox 46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Conceptual progression; predictive horizon based on TRL’s SCOOT 8 AI announcement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46" name="TextBox 47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DEVELOPMENT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SCOOT: an evolving control philosophy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04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pic>
        <p:nvPicPr>
          <p:cNvPr id="7" name="Picture 8"/>
          <p:cNvPicPr>
            <a:picLocks noChangeAspect="1"/>
          </p:cNvPicPr>
          <p:nvPr/>
        </p:nvPicPr>
        <p:blipFill>
          <a:blip r:embed="rId2"/>
          <a:srcRect l="15854" t="0" r="15854" b="0"/>
          <a:stretch>
            <a:fillRect/>
          </a:stretch>
        </p:blipFill>
        <p:spPr>
          <a:xfrm>
            <a:off x="8915400" y="1143000"/>
            <a:ext cx="2560320" cy="1874520"/>
          </a:xfrm>
          <a:prstGeom prst="rect">
            <a:avLst/>
          </a:prstGeom>
          <a:ln>
            <a:noFill/>
          </a:ln>
        </p:spPr>
      </p:pic>
      <p:sp>
        <p:nvSpPr>
          <p:cNvPr id="8" name="Shape 9"/>
          <p:cNvSpPr/>
          <p:nvPr/>
        </p:nvSpPr>
        <p:spPr>
          <a:xfrm>
            <a:off x="8915400" y="1143000"/>
            <a:ext cx="2560320" cy="1874520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sp>
        <p:nvSpPr>
          <p:cNvPr id="9" name="TextBox 10"/>
          <p:cNvSpPr txBox="1"/>
          <p:nvPr/>
        </p:nvSpPr>
        <p:spPr>
          <a:xfrm>
            <a:off x="8961120" y="3218688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500" b="1">
                <a:solidFill>
                  <a:srgbClr val="F4F8FB"/>
                </a:solidFill>
                <a:latin typeface="Aptos"/>
              </a:rPr>
              <a:t>Split • Cycle • Offset</a:t>
            </a:r>
            <a:endParaRPr lang="en-US" sz="1500">
              <a:solidFill>
                <a:srgbClr val="F4F8FB"/>
              </a:solidFill>
              <a:latin typeface="Aptos"/>
            </a:endParaRPr>
          </a:p>
          <a:p>
            <a:pPr algn="ctr"/>
            <a:r>
              <a:rPr lang="en-US" sz="1500" b="1">
                <a:solidFill>
                  <a:srgbClr val="F4F8FB"/>
                </a:solidFill>
                <a:latin typeface="Aptos"/>
              </a:rPr>
              <a:t>Optimisation Technique</a:t>
            </a:r>
            <a:endParaRPr lang="en-US" sz="1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0" name="Shape 11"/>
          <p:cNvSpPr/>
          <p:nvPr/>
        </p:nvSpPr>
        <p:spPr>
          <a:xfrm>
            <a:off x="822960" y="3675888"/>
            <a:ext cx="7406640" cy="64008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1" name="Shape 12"/>
          <p:cNvSpPr/>
          <p:nvPr/>
        </p:nvSpPr>
        <p:spPr>
          <a:xfrm>
            <a:off x="914400" y="3410712"/>
            <a:ext cx="566928" cy="566928"/>
          </a:xfrm>
          <a:prstGeom prst="ellipse">
            <a:avLst/>
          </a:prstGeom>
          <a:solidFill>
            <a:srgbClr val="4EA1FF"/>
          </a:solidFill>
          <a:ln>
            <a:noFill/>
          </a:ln>
        </p:spPr>
      </p:sp>
      <p:sp>
        <p:nvSpPr>
          <p:cNvPr id="12" name="TextBox 13"/>
          <p:cNvSpPr txBox="1"/>
          <p:nvPr/>
        </p:nvSpPr>
        <p:spPr>
          <a:xfrm>
            <a:off x="640080" y="416052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4EA1FF"/>
                </a:solidFill>
                <a:latin typeface="Aptos"/>
              </a:rPr>
              <a:t>1977</a:t>
            </a:r>
            <a:endParaRPr lang="en-US" sz="1300">
              <a:solidFill>
                <a:srgbClr val="4EA1FF"/>
              </a:solidFill>
              <a:latin typeface="Aptos"/>
            </a:endParaRPr>
          </a:p>
        </p:txBody>
      </p:sp>
      <p:sp>
        <p:nvSpPr>
          <p:cNvPr id="13" name="TextBox 14"/>
          <p:cNvSpPr txBox="1"/>
          <p:nvPr/>
        </p:nvSpPr>
        <p:spPr>
          <a:xfrm>
            <a:off x="411480" y="457200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50">
                <a:solidFill>
                  <a:srgbClr val="F4F8FB"/>
                </a:solidFill>
                <a:latin typeface="Aptos"/>
              </a:rPr>
              <a:t>Research birth</a:t>
            </a:r>
            <a:endParaRPr lang="en-US" sz="10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4" name="Shape 15"/>
          <p:cNvSpPr/>
          <p:nvPr/>
        </p:nvSpPr>
        <p:spPr>
          <a:xfrm>
            <a:off x="2788920" y="3410712"/>
            <a:ext cx="566928" cy="566928"/>
          </a:xfrm>
          <a:prstGeom prst="ellipse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15" name="TextBox 16"/>
          <p:cNvSpPr txBox="1"/>
          <p:nvPr/>
        </p:nvSpPr>
        <p:spPr>
          <a:xfrm>
            <a:off x="2514600" y="416052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19D3B3"/>
                </a:solidFill>
                <a:latin typeface="Aptos"/>
              </a:rPr>
              <a:t>1980s–2000s</a:t>
            </a:r>
            <a:endParaRPr lang="en-US" sz="13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16" name="TextBox 17"/>
          <p:cNvSpPr txBox="1"/>
          <p:nvPr/>
        </p:nvSpPr>
        <p:spPr>
          <a:xfrm>
            <a:off x="2286000" y="457200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50">
                <a:solidFill>
                  <a:srgbClr val="F4F8FB"/>
                </a:solidFill>
                <a:latin typeface="Aptos"/>
              </a:rPr>
              <a:t>Global rollout</a:t>
            </a:r>
            <a:endParaRPr lang="en-US" sz="10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7" name="Shape 18"/>
          <p:cNvSpPr/>
          <p:nvPr/>
        </p:nvSpPr>
        <p:spPr>
          <a:xfrm>
            <a:off x="4892040" y="3410712"/>
            <a:ext cx="566928" cy="566928"/>
          </a:xfrm>
          <a:prstGeom prst="ellipse">
            <a:avLst/>
          </a:prstGeom>
          <a:solidFill>
            <a:srgbClr val="FFB547"/>
          </a:solidFill>
          <a:ln>
            <a:noFill/>
          </a:ln>
        </p:spPr>
      </p:sp>
      <p:sp>
        <p:nvSpPr>
          <p:cNvPr id="18" name="TextBox 19"/>
          <p:cNvSpPr txBox="1"/>
          <p:nvPr/>
        </p:nvSpPr>
        <p:spPr>
          <a:xfrm>
            <a:off x="4617720" y="416052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FFB547"/>
                </a:solidFill>
                <a:latin typeface="Aptos"/>
              </a:rPr>
              <a:t>2024</a:t>
            </a:r>
            <a:endParaRPr lang="en-US" sz="1300">
              <a:solidFill>
                <a:srgbClr val="FFB547"/>
              </a:solidFill>
              <a:latin typeface="Aptos"/>
            </a:endParaRPr>
          </a:p>
        </p:txBody>
      </p:sp>
      <p:sp>
        <p:nvSpPr>
          <p:cNvPr id="19" name="TextBox 20"/>
          <p:cNvSpPr txBox="1"/>
          <p:nvPr/>
        </p:nvSpPr>
        <p:spPr>
          <a:xfrm>
            <a:off x="4389120" y="457200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50">
                <a:solidFill>
                  <a:srgbClr val="F4F8FB"/>
                </a:solidFill>
                <a:latin typeface="Aptos"/>
              </a:rPr>
              <a:t>SCOOT 8</a:t>
            </a:r>
            <a:endParaRPr lang="en-US" sz="10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0" name="Shape 21"/>
          <p:cNvSpPr/>
          <p:nvPr/>
        </p:nvSpPr>
        <p:spPr>
          <a:xfrm>
            <a:off x="6784848" y="3410712"/>
            <a:ext cx="566928" cy="566928"/>
          </a:xfrm>
          <a:prstGeom prst="ellipse">
            <a:avLst/>
          </a:prstGeom>
          <a:solidFill>
            <a:srgbClr val="B7F34A"/>
          </a:solidFill>
          <a:ln>
            <a:noFill/>
          </a:ln>
        </p:spPr>
      </p:sp>
      <p:sp>
        <p:nvSpPr>
          <p:cNvPr id="21" name="TextBox 22"/>
          <p:cNvSpPr txBox="1"/>
          <p:nvPr/>
        </p:nvSpPr>
        <p:spPr>
          <a:xfrm>
            <a:off x="6510528" y="416052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B7F34A"/>
                </a:solidFill>
                <a:latin typeface="Aptos"/>
              </a:rPr>
              <a:t>2025</a:t>
            </a:r>
            <a:endParaRPr lang="en-US" sz="13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22" name="TextBox 23"/>
          <p:cNvSpPr txBox="1"/>
          <p:nvPr/>
        </p:nvSpPr>
        <p:spPr>
          <a:xfrm>
            <a:off x="6281928" y="457200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50">
                <a:solidFill>
                  <a:srgbClr val="F4F8FB"/>
                </a:solidFill>
                <a:latin typeface="Aptos"/>
              </a:rPr>
              <a:t>SCOOT 8 AI</a:t>
            </a:r>
            <a:endParaRPr lang="en-US" sz="10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3" name="Shape 24"/>
          <p:cNvSpPr/>
          <p:nvPr/>
        </p:nvSpPr>
        <p:spPr>
          <a:xfrm>
            <a:off x="8823960" y="4160520"/>
            <a:ext cx="2697480" cy="123444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24" name="TextBox 25"/>
          <p:cNvSpPr txBox="1"/>
          <p:nvPr/>
        </p:nvSpPr>
        <p:spPr>
          <a:xfrm>
            <a:off x="8988552" y="4306824"/>
            <a:ext cx="2368296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B7F34A"/>
                </a:solidFill>
                <a:latin typeface="Aptos"/>
              </a:rPr>
              <a:t>350+</a:t>
            </a:r>
            <a:endParaRPr lang="en-US" sz="28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25" name="TextBox 26"/>
          <p:cNvSpPr txBox="1"/>
          <p:nvPr/>
        </p:nvSpPr>
        <p:spPr>
          <a:xfrm>
            <a:off x="8988552" y="4919472"/>
            <a:ext cx="2368296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towns &amp; cities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6" name="TextBox 27"/>
          <p:cNvSpPr txBox="1"/>
          <p:nvPr/>
        </p:nvSpPr>
        <p:spPr>
          <a:xfrm>
            <a:off x="8988552" y="4983480"/>
            <a:ext cx="23682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30">
                <a:solidFill>
                  <a:srgbClr val="9DB3C2"/>
                </a:solidFill>
                <a:latin typeface="Aptos"/>
              </a:rPr>
              <a:t>SCOOT family footprint</a:t>
            </a:r>
            <a:endParaRPr lang="en-US" sz="83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7" name="TextBox 28"/>
          <p:cNvSpPr txBox="1"/>
          <p:nvPr/>
        </p:nvSpPr>
        <p:spPr>
          <a:xfrm>
            <a:off x="822960" y="1417320"/>
            <a:ext cx="7040880" cy="987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3100" b="1">
                <a:solidFill>
                  <a:srgbClr val="F4F8FB"/>
                </a:solidFill>
                <a:latin typeface="Aptos"/>
              </a:rPr>
              <a:t>Nearly 50 years of field evolution</a:t>
            </a:r>
            <a:endParaRPr lang="en-US" sz="31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8" name="TextBox 29"/>
          <p:cNvSpPr txBox="1"/>
          <p:nvPr/>
        </p:nvSpPr>
        <p:spPr>
          <a:xfrm>
            <a:off x="868680" y="2514600"/>
            <a:ext cx="6903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>
                <a:solidFill>
                  <a:srgbClr val="9DB3C2"/>
                </a:solidFill>
                <a:latin typeface="Aptos"/>
              </a:rPr>
              <a:t>Small, frequent timing changes across a coordinated network</a:t>
            </a:r>
            <a:endParaRPr lang="en-US" sz="13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9" name="Shape 30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0" name="TextBox 31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Sources: TRL Software SCOOT 8 (2024) and SCOOT 8 AI launch (2025) • Signal image: Adaptive Traffic Signal Timer repo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31" name="TextBox 32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DEVELOPMENT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SCOOT 8: the development leap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05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pic>
        <p:nvPicPr>
          <p:cNvPr id="7" name="Picture 8"/>
          <p:cNvPicPr>
            <a:picLocks noChangeAspect="1"/>
          </p:cNvPicPr>
          <p:nvPr/>
        </p:nvPicPr>
        <p:blipFill>
          <a:blip r:embed="rId2"/>
          <a:srcRect l="0" t="7924" r="0" b="7924"/>
          <a:stretch>
            <a:fillRect/>
          </a:stretch>
        </p:blipFill>
        <p:spPr>
          <a:xfrm>
            <a:off x="566928" y="1252728"/>
            <a:ext cx="5577840" cy="4535424"/>
          </a:xfrm>
          <a:prstGeom prst="rect">
            <a:avLst/>
          </a:prstGeom>
          <a:ln>
            <a:noFill/>
          </a:ln>
        </p:spPr>
      </p:pic>
      <p:sp>
        <p:nvSpPr>
          <p:cNvPr id="8" name="Shape 9"/>
          <p:cNvSpPr/>
          <p:nvPr/>
        </p:nvSpPr>
        <p:spPr>
          <a:xfrm>
            <a:off x="566928" y="1252728"/>
            <a:ext cx="5577840" cy="4535424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sp>
        <p:nvSpPr>
          <p:cNvPr id="9" name="TextBox 10"/>
          <p:cNvSpPr txBox="1"/>
          <p:nvPr/>
        </p:nvSpPr>
        <p:spPr>
          <a:xfrm>
            <a:off x="731520" y="5925312"/>
            <a:ext cx="5257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>
                <a:solidFill>
                  <a:srgbClr val="19D3B3"/>
                </a:solidFill>
                <a:latin typeface="Aptos"/>
              </a:rPr>
              <a:t>From traffic control to traffic intelligence</a:t>
            </a:r>
            <a:endParaRPr lang="en-US" sz="14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10" name="Shape 11"/>
          <p:cNvSpPr/>
          <p:nvPr/>
        </p:nvSpPr>
        <p:spPr>
          <a:xfrm>
            <a:off x="6437376" y="1252728"/>
            <a:ext cx="2423160" cy="123444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11" name="Shape 12"/>
          <p:cNvSpPr/>
          <p:nvPr/>
        </p:nvSpPr>
        <p:spPr>
          <a:xfrm>
            <a:off x="6437376" y="1252728"/>
            <a:ext cx="54864" cy="1234440"/>
          </a:xfrm>
          <a:prstGeom prst="roundRect">
            <a:avLst/>
          </a:prstGeom>
          <a:solidFill>
            <a:srgbClr val="4EA1FF"/>
          </a:solidFill>
          <a:ln>
            <a:noFill/>
          </a:ln>
        </p:spPr>
      </p:sp>
      <p:sp>
        <p:nvSpPr>
          <p:cNvPr id="12" name="TextBox 13"/>
          <p:cNvSpPr txBox="1"/>
          <p:nvPr/>
        </p:nvSpPr>
        <p:spPr>
          <a:xfrm>
            <a:off x="6638544" y="1389888"/>
            <a:ext cx="207568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AUTO-VALIDATE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3" name="TextBox 14"/>
          <p:cNvSpPr txBox="1"/>
          <p:nvPr/>
        </p:nvSpPr>
        <p:spPr>
          <a:xfrm>
            <a:off x="6638544" y="1755648"/>
            <a:ext cx="207568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Initial validation + continuous revalidation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4" name="Shape 15"/>
          <p:cNvSpPr/>
          <p:nvPr/>
        </p:nvSpPr>
        <p:spPr>
          <a:xfrm>
            <a:off x="9134856" y="1252728"/>
            <a:ext cx="2423160" cy="123444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15" name="Shape 16"/>
          <p:cNvSpPr/>
          <p:nvPr/>
        </p:nvSpPr>
        <p:spPr>
          <a:xfrm>
            <a:off x="9134856" y="1252728"/>
            <a:ext cx="54864" cy="1234440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16" name="TextBox 17"/>
          <p:cNvSpPr txBox="1"/>
          <p:nvPr/>
        </p:nvSpPr>
        <p:spPr>
          <a:xfrm>
            <a:off x="9336024" y="1389888"/>
            <a:ext cx="207568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ANALYTICS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7" name="TextBox 18"/>
          <p:cNvSpPr txBox="1"/>
          <p:nvPr/>
        </p:nvSpPr>
        <p:spPr>
          <a:xfrm>
            <a:off x="9336024" y="1755648"/>
            <a:ext cx="207568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Second-by-second performance measures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8" name="Shape 19"/>
          <p:cNvSpPr/>
          <p:nvPr/>
        </p:nvSpPr>
        <p:spPr>
          <a:xfrm>
            <a:off x="6437376" y="2761488"/>
            <a:ext cx="2423160" cy="123444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19" name="Shape 20"/>
          <p:cNvSpPr/>
          <p:nvPr/>
        </p:nvSpPr>
        <p:spPr>
          <a:xfrm>
            <a:off x="6437376" y="2761488"/>
            <a:ext cx="54864" cy="1234440"/>
          </a:xfrm>
          <a:prstGeom prst="roundRect">
            <a:avLst/>
          </a:prstGeom>
          <a:solidFill>
            <a:srgbClr val="FFB547"/>
          </a:solidFill>
          <a:ln>
            <a:noFill/>
          </a:ln>
        </p:spPr>
      </p:sp>
      <p:sp>
        <p:nvSpPr>
          <p:cNvPr id="20" name="TextBox 21"/>
          <p:cNvSpPr txBox="1"/>
          <p:nvPr/>
        </p:nvSpPr>
        <p:spPr>
          <a:xfrm>
            <a:off x="6638544" y="2898648"/>
            <a:ext cx="207568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MULTIMODAL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1" name="TextBox 22"/>
          <p:cNvSpPr txBox="1"/>
          <p:nvPr/>
        </p:nvSpPr>
        <p:spPr>
          <a:xfrm>
            <a:off x="6638544" y="3264408"/>
            <a:ext cx="207568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Pedestrian demand in split + cycle decisions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2" name="Shape 23"/>
          <p:cNvSpPr/>
          <p:nvPr/>
        </p:nvSpPr>
        <p:spPr>
          <a:xfrm>
            <a:off x="9134856" y="2761488"/>
            <a:ext cx="2423160" cy="123444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23" name="Shape 24"/>
          <p:cNvSpPr/>
          <p:nvPr/>
        </p:nvSpPr>
        <p:spPr>
          <a:xfrm>
            <a:off x="9134856" y="2761488"/>
            <a:ext cx="54864" cy="12344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24" name="TextBox 25"/>
          <p:cNvSpPr txBox="1"/>
          <p:nvPr/>
        </p:nvSpPr>
        <p:spPr>
          <a:xfrm>
            <a:off x="9336024" y="2898648"/>
            <a:ext cx="207568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ANOMALIES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5" name="TextBox 26"/>
          <p:cNvSpPr txBox="1"/>
          <p:nvPr/>
        </p:nvSpPr>
        <p:spPr>
          <a:xfrm>
            <a:off x="9336024" y="3264408"/>
            <a:ext cx="207568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R&amp;D with Alan Turing Institute candidates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6" name="Shape 27"/>
          <p:cNvSpPr/>
          <p:nvPr/>
        </p:nvSpPr>
        <p:spPr>
          <a:xfrm>
            <a:off x="6437376" y="4315968"/>
            <a:ext cx="5120640" cy="1463040"/>
          </a:xfrm>
          <a:prstGeom prst="roundRect">
            <a:avLst/>
          </a:prstGeom>
          <a:solidFill>
            <a:srgbClr val="143244"/>
          </a:solidFill>
          <a:ln>
            <a:noFill/>
          </a:ln>
        </p:spPr>
      </p:sp>
      <p:sp>
        <p:nvSpPr>
          <p:cNvPr id="27" name="TextBox 28"/>
          <p:cNvSpPr txBox="1"/>
          <p:nvPr/>
        </p:nvSpPr>
        <p:spPr>
          <a:xfrm>
            <a:off x="6675120" y="4544568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700" b="1">
                <a:solidFill>
                  <a:srgbClr val="B7F34A"/>
                </a:solidFill>
                <a:latin typeface="Aptos"/>
              </a:rPr>
              <a:t>47 YEARS</a:t>
            </a:r>
            <a:endParaRPr lang="en-US" sz="27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28" name="TextBox 29"/>
          <p:cNvSpPr txBox="1"/>
          <p:nvPr/>
        </p:nvSpPr>
        <p:spPr>
          <a:xfrm>
            <a:off x="8458200" y="4517136"/>
            <a:ext cx="278892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F4F8FB"/>
                </a:solidFill>
                <a:latin typeface="Aptos"/>
              </a:rPr>
              <a:t>of operating knowledge</a:t>
            </a:r>
            <a:endParaRPr lang="en-US" sz="1400">
              <a:solidFill>
                <a:srgbClr val="F4F8FB"/>
              </a:solidFill>
              <a:latin typeface="Aptos"/>
            </a:endParaRPr>
          </a:p>
          <a:p>
            <a:pPr algn="l"/>
            <a:r>
              <a:rPr lang="en-US" sz="1400" b="1">
                <a:solidFill>
                  <a:srgbClr val="F4F8FB"/>
                </a:solidFill>
                <a:latin typeface="Aptos"/>
              </a:rPr>
              <a:t>inside the next platform</a:t>
            </a:r>
            <a:endParaRPr lang="en-US" sz="14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9" name="Shape 30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0" name="TextBox 31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Source: TRL Software presentation, “SCOOT 8 – 47 Years Later” (2024) • Visual: Apache-licensed traffic project repo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31" name="TextBox 32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TRL-REPORTED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SCOOT 8 AI: headline achievements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06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7" name="Shape 8"/>
          <p:cNvSpPr/>
          <p:nvPr/>
        </p:nvSpPr>
        <p:spPr>
          <a:xfrm>
            <a:off x="594360" y="1298448"/>
            <a:ext cx="2587752" cy="187452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8" name="TextBox 9"/>
          <p:cNvSpPr txBox="1"/>
          <p:nvPr/>
        </p:nvSpPr>
        <p:spPr>
          <a:xfrm>
            <a:off x="758952" y="1444752"/>
            <a:ext cx="225856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B7F34A"/>
                </a:solidFill>
                <a:latin typeface="Aptos"/>
              </a:rPr>
              <a:t>30 min</a:t>
            </a:r>
            <a:endParaRPr lang="en-US" sz="28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758952" y="2057400"/>
            <a:ext cx="22585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traffic forecast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758952" y="2761488"/>
            <a:ext cx="22585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30">
                <a:solidFill>
                  <a:srgbClr val="9DB3C2"/>
                </a:solidFill>
                <a:latin typeface="Aptos"/>
              </a:rPr>
              <a:t>look-ahead horizon</a:t>
            </a:r>
            <a:endParaRPr lang="en-US" sz="83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1" name="Shape 12"/>
          <p:cNvSpPr/>
          <p:nvPr/>
        </p:nvSpPr>
        <p:spPr>
          <a:xfrm>
            <a:off x="3401568" y="1298448"/>
            <a:ext cx="2587752" cy="187452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12" name="TextBox 13"/>
          <p:cNvSpPr txBox="1"/>
          <p:nvPr/>
        </p:nvSpPr>
        <p:spPr>
          <a:xfrm>
            <a:off x="3566160" y="1444752"/>
            <a:ext cx="225856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9D3B3"/>
                </a:solidFill>
                <a:latin typeface="Aptos"/>
              </a:rPr>
              <a:t>up to 15%</a:t>
            </a:r>
            <a:endParaRPr lang="en-US" sz="28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13" name="TextBox 14"/>
          <p:cNvSpPr txBox="1"/>
          <p:nvPr/>
        </p:nvSpPr>
        <p:spPr>
          <a:xfrm>
            <a:off x="3566160" y="2057400"/>
            <a:ext cx="22585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journey time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4" name="TextBox 15"/>
          <p:cNvSpPr txBox="1"/>
          <p:nvPr/>
        </p:nvSpPr>
        <p:spPr>
          <a:xfrm>
            <a:off x="3566160" y="2761488"/>
            <a:ext cx="22585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30">
                <a:solidFill>
                  <a:srgbClr val="9DB3C2"/>
                </a:solidFill>
                <a:latin typeface="Aptos"/>
              </a:rPr>
              <a:t>vs current-generation systems</a:t>
            </a:r>
            <a:endParaRPr lang="en-US" sz="83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5" name="Shape 16"/>
          <p:cNvSpPr/>
          <p:nvPr/>
        </p:nvSpPr>
        <p:spPr>
          <a:xfrm>
            <a:off x="6208776" y="1298448"/>
            <a:ext cx="2587752" cy="187452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16" name="TextBox 17"/>
          <p:cNvSpPr txBox="1"/>
          <p:nvPr/>
        </p:nvSpPr>
        <p:spPr>
          <a:xfrm>
            <a:off x="6373368" y="1444752"/>
            <a:ext cx="225856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FFB547"/>
                </a:solidFill>
                <a:latin typeface="Aptos"/>
              </a:rPr>
              <a:t>up to 40%</a:t>
            </a:r>
            <a:endParaRPr lang="en-US" sz="2800">
              <a:solidFill>
                <a:srgbClr val="FFB547"/>
              </a:solidFill>
              <a:latin typeface="Aptos"/>
            </a:endParaRPr>
          </a:p>
        </p:txBody>
      </p:sp>
      <p:sp>
        <p:nvSpPr>
          <p:cNvPr id="17" name="TextBox 18"/>
          <p:cNvSpPr txBox="1"/>
          <p:nvPr/>
        </p:nvSpPr>
        <p:spPr>
          <a:xfrm>
            <a:off x="6373368" y="2057400"/>
            <a:ext cx="22585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faster detection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8" name="TextBox 19"/>
          <p:cNvSpPr txBox="1"/>
          <p:nvPr/>
        </p:nvSpPr>
        <p:spPr>
          <a:xfrm>
            <a:off x="6373368" y="2761488"/>
            <a:ext cx="22585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30">
                <a:solidFill>
                  <a:srgbClr val="9DB3C2"/>
                </a:solidFill>
                <a:latin typeface="Aptos"/>
              </a:rPr>
              <a:t>incidents + anomalies</a:t>
            </a:r>
            <a:endParaRPr lang="en-US" sz="83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9" name="Shape 20"/>
          <p:cNvSpPr/>
          <p:nvPr/>
        </p:nvSpPr>
        <p:spPr>
          <a:xfrm>
            <a:off x="9015984" y="1298448"/>
            <a:ext cx="2587752" cy="187452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20" name="TextBox 21"/>
          <p:cNvSpPr txBox="1"/>
          <p:nvPr/>
        </p:nvSpPr>
        <p:spPr>
          <a:xfrm>
            <a:off x="9180576" y="1444752"/>
            <a:ext cx="225856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4EA1FF"/>
                </a:solidFill>
                <a:latin typeface="Aptos"/>
              </a:rPr>
              <a:t>≤12 mo</a:t>
            </a:r>
            <a:endParaRPr lang="en-US" sz="2800">
              <a:solidFill>
                <a:srgbClr val="4EA1FF"/>
              </a:solidFill>
              <a:latin typeface="Aptos"/>
            </a:endParaRPr>
          </a:p>
        </p:txBody>
      </p:sp>
      <p:sp>
        <p:nvSpPr>
          <p:cNvPr id="21" name="TextBox 22"/>
          <p:cNvSpPr txBox="1"/>
          <p:nvPr/>
        </p:nvSpPr>
        <p:spPr>
          <a:xfrm>
            <a:off x="9180576" y="2057400"/>
            <a:ext cx="22585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typical ROI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2" name="TextBox 23"/>
          <p:cNvSpPr txBox="1"/>
          <p:nvPr/>
        </p:nvSpPr>
        <p:spPr>
          <a:xfrm>
            <a:off x="9180576" y="2761488"/>
            <a:ext cx="22585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30">
                <a:solidFill>
                  <a:srgbClr val="9DB3C2"/>
                </a:solidFill>
                <a:latin typeface="Aptos"/>
              </a:rPr>
              <a:t>vendor estimate</a:t>
            </a:r>
            <a:endParaRPr lang="en-US" sz="830">
              <a:solidFill>
                <a:srgbClr val="9DB3C2"/>
              </a:solidFill>
              <a:latin typeface="Aptos"/>
            </a:endParaRPr>
          </a:p>
        </p:txBody>
      </p:sp>
      <p:pic>
        <p:nvPicPr>
          <p:cNvPr id="23" name="Picture 24"/>
          <p:cNvPicPr>
            <a:picLocks noChangeAspect="1"/>
          </p:cNvPicPr>
          <p:nvPr/>
        </p:nvPicPr>
        <p:blipFill>
          <a:blip r:embed="rId2"/>
          <a:srcRect l="0" t="25165" r="0" b="25165"/>
          <a:stretch>
            <a:fillRect/>
          </a:stretch>
        </p:blipFill>
        <p:spPr>
          <a:xfrm>
            <a:off x="603504" y="3511296"/>
            <a:ext cx="4160520" cy="2286000"/>
          </a:xfrm>
          <a:prstGeom prst="rect">
            <a:avLst/>
          </a:prstGeom>
          <a:ln>
            <a:noFill/>
          </a:ln>
        </p:spPr>
      </p:pic>
      <p:sp>
        <p:nvSpPr>
          <p:cNvPr id="24" name="Shape 25"/>
          <p:cNvSpPr/>
          <p:nvPr/>
        </p:nvSpPr>
        <p:spPr>
          <a:xfrm>
            <a:off x="603504" y="3511296"/>
            <a:ext cx="4160520" cy="2286000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sp>
        <p:nvSpPr>
          <p:cNvPr id="25" name="Shape 26"/>
          <p:cNvSpPr/>
          <p:nvPr/>
        </p:nvSpPr>
        <p:spPr>
          <a:xfrm>
            <a:off x="5074920" y="3511296"/>
            <a:ext cx="6528816" cy="228600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26" name="TextBox 27"/>
          <p:cNvSpPr txBox="1"/>
          <p:nvPr/>
        </p:nvSpPr>
        <p:spPr>
          <a:xfrm>
            <a:off x="5413248" y="37947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600" b="1">
                <a:solidFill>
                  <a:srgbClr val="F4F8FB"/>
                </a:solidFill>
                <a:latin typeface="Aptos"/>
              </a:rPr>
              <a:t>AI adds foresight</a:t>
            </a:r>
            <a:endParaRPr lang="en-US" sz="26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7" name="TextBox 28"/>
          <p:cNvSpPr txBox="1"/>
          <p:nvPr/>
        </p:nvSpPr>
        <p:spPr>
          <a:xfrm>
            <a:off x="5413248" y="4443984"/>
            <a:ext cx="56235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19D3B3"/>
                </a:solidFill>
                <a:latin typeface="Aptos"/>
              </a:rPr>
              <a:t>Forecast demand • flag anomalies • recommend action</a:t>
            </a:r>
            <a:endParaRPr lang="en-US" sz="14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28" name="TextBox 29"/>
          <p:cNvSpPr txBox="1"/>
          <p:nvPr/>
        </p:nvSpPr>
        <p:spPr>
          <a:xfrm>
            <a:off x="5413248" y="5074920"/>
            <a:ext cx="1600200" cy="310896"/>
          </a:xfrm>
          <a:prstGeom prst="roundRect">
            <a:avLst/>
          </a:prstGeom>
          <a:solidFill>
            <a:srgbClr val="4EA1FF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ctr"/>
            <a:r>
              <a:rPr lang="en-US" sz="1050" b="1">
                <a:solidFill>
                  <a:srgbClr val="06111A"/>
                </a:solidFill>
                <a:latin typeface="Aptos"/>
              </a:rPr>
              <a:t>Hardware-agnostic</a:t>
            </a:r>
            <a:endParaRPr lang="en-US" sz="1050">
              <a:solidFill>
                <a:srgbClr val="06111A"/>
              </a:solidFill>
              <a:latin typeface="Aptos"/>
            </a:endParaRPr>
          </a:p>
        </p:txBody>
      </p:sp>
      <p:sp>
        <p:nvSpPr>
          <p:cNvPr id="29" name="TextBox 30"/>
          <p:cNvSpPr txBox="1"/>
          <p:nvPr/>
        </p:nvSpPr>
        <p:spPr>
          <a:xfrm>
            <a:off x="7223760" y="5074920"/>
            <a:ext cx="1874520" cy="310896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ctr"/>
            <a:r>
              <a:rPr lang="en-US" sz="1050" b="1">
                <a:solidFill>
                  <a:srgbClr val="06111A"/>
                </a:solidFill>
                <a:latin typeface="Aptos"/>
              </a:rPr>
              <a:t>Real-time dashboards</a:t>
            </a:r>
            <a:endParaRPr lang="en-US" sz="1050">
              <a:solidFill>
                <a:srgbClr val="06111A"/>
              </a:solidFill>
              <a:latin typeface="Aptos"/>
            </a:endParaRPr>
          </a:p>
        </p:txBody>
      </p:sp>
      <p:sp>
        <p:nvSpPr>
          <p:cNvPr id="30" name="TextBox 31"/>
          <p:cNvSpPr txBox="1"/>
          <p:nvPr/>
        </p:nvSpPr>
        <p:spPr>
          <a:xfrm>
            <a:off x="9308592" y="5074920"/>
            <a:ext cx="1508760" cy="310896"/>
          </a:xfrm>
          <a:prstGeom prst="roundRect">
            <a:avLst/>
          </a:prstGeom>
          <a:solidFill>
            <a:srgbClr val="FFB547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ctr"/>
            <a:r>
              <a:rPr lang="en-US" sz="1050" b="1">
                <a:solidFill>
                  <a:srgbClr val="06111A"/>
                </a:solidFill>
                <a:latin typeface="Aptos"/>
              </a:rPr>
              <a:t>3rd-party data</a:t>
            </a:r>
            <a:endParaRPr lang="en-US" sz="1050">
              <a:solidFill>
                <a:srgbClr val="06111A"/>
              </a:solidFill>
              <a:latin typeface="Aptos"/>
            </a:endParaRPr>
          </a:p>
        </p:txBody>
      </p:sp>
      <p:sp>
        <p:nvSpPr>
          <p:cNvPr id="31" name="TextBox 32"/>
          <p:cNvSpPr txBox="1"/>
          <p:nvPr/>
        </p:nvSpPr>
        <p:spPr>
          <a:xfrm>
            <a:off x="5413248" y="5650992"/>
            <a:ext cx="5623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>
                <a:solidFill>
                  <a:srgbClr val="9DB3C2"/>
                </a:solidFill>
                <a:latin typeface="Aptos"/>
              </a:rPr>
              <a:t>Treat these as claims to validate under local pilot conditions.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2" name="Shape 33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3" name="TextBox 34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Source: TRL Software, SCOOT 8 AI launch, 23 Sep 2025 • Detection visual: Adaptive Traffic Signal Timer repo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34" name="TextBox 35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TECHNOLOGY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SCOOT 8 AI: broad system architecture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07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7" name="Shape 8"/>
          <p:cNvSpPr/>
          <p:nvPr/>
        </p:nvSpPr>
        <p:spPr>
          <a:xfrm>
            <a:off x="548640" y="1307592"/>
            <a:ext cx="3154680" cy="4526280"/>
          </a:xfrm>
          <a:prstGeom prst="roundRect">
            <a:avLst/>
          </a:prstGeom>
          <a:solidFill>
            <a:srgbClr val="0E2332"/>
          </a:solidFill>
          <a:ln w="16510">
            <a:solidFill>
              <a:srgbClr val="4EA1FF"/>
            </a:solidFill>
            <a:prstDash val="solid"/>
          </a:ln>
        </p:spPr>
      </p:sp>
      <p:sp>
        <p:nvSpPr>
          <p:cNvPr id="8" name="TextBox 9"/>
          <p:cNvSpPr txBox="1"/>
          <p:nvPr/>
        </p:nvSpPr>
        <p:spPr>
          <a:xfrm>
            <a:off x="1389888" y="1490472"/>
            <a:ext cx="1463040" cy="310896"/>
          </a:xfrm>
          <a:prstGeom prst="roundRect">
            <a:avLst/>
          </a:prstGeom>
          <a:solidFill>
            <a:srgbClr val="4EA1FF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ctr"/>
            <a:r>
              <a:rPr lang="en-US" sz="1050" b="1">
                <a:solidFill>
                  <a:srgbClr val="06111A"/>
                </a:solidFill>
                <a:latin typeface="Aptos"/>
              </a:rPr>
              <a:t>INPUTS</a:t>
            </a:r>
            <a:endParaRPr lang="en-US" sz="1050">
              <a:solidFill>
                <a:srgbClr val="06111A"/>
              </a:solidFill>
              <a:latin typeface="Aptos"/>
            </a:endParaRPr>
          </a:p>
        </p:txBody>
      </p:sp>
      <p:sp>
        <p:nvSpPr>
          <p:cNvPr id="9" name="Shape 10"/>
          <p:cNvSpPr/>
          <p:nvPr/>
        </p:nvSpPr>
        <p:spPr>
          <a:xfrm>
            <a:off x="4517136" y="1307592"/>
            <a:ext cx="3154680" cy="4526280"/>
          </a:xfrm>
          <a:prstGeom prst="roundRect">
            <a:avLst/>
          </a:prstGeom>
          <a:solidFill>
            <a:srgbClr val="0E2332"/>
          </a:solidFill>
          <a:ln w="16510">
            <a:solidFill>
              <a:srgbClr val="A78BFA"/>
            </a:solidFill>
            <a:prstDash val="solid"/>
          </a:ln>
        </p:spPr>
      </p:sp>
      <p:sp>
        <p:nvSpPr>
          <p:cNvPr id="10" name="TextBox 11"/>
          <p:cNvSpPr txBox="1"/>
          <p:nvPr/>
        </p:nvSpPr>
        <p:spPr>
          <a:xfrm>
            <a:off x="5358384" y="1490472"/>
            <a:ext cx="1463040" cy="310896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ctr"/>
            <a:r>
              <a:rPr lang="en-US" sz="1050" b="1">
                <a:solidFill>
                  <a:srgbClr val="06111A"/>
                </a:solidFill>
                <a:latin typeface="Aptos"/>
              </a:rPr>
              <a:t>INTELLIGENCE</a:t>
            </a:r>
            <a:endParaRPr lang="en-US" sz="1050">
              <a:solidFill>
                <a:srgbClr val="06111A"/>
              </a:solidFill>
              <a:latin typeface="Aptos"/>
            </a:endParaRPr>
          </a:p>
        </p:txBody>
      </p:sp>
      <p:sp>
        <p:nvSpPr>
          <p:cNvPr id="11" name="Shape 12"/>
          <p:cNvSpPr/>
          <p:nvPr/>
        </p:nvSpPr>
        <p:spPr>
          <a:xfrm>
            <a:off x="8485632" y="1307592"/>
            <a:ext cx="3154680" cy="4526280"/>
          </a:xfrm>
          <a:prstGeom prst="roundRect">
            <a:avLst/>
          </a:prstGeom>
          <a:solidFill>
            <a:srgbClr val="0E2332"/>
          </a:solidFill>
          <a:ln w="16510">
            <a:solidFill>
              <a:srgbClr val="B7F34A"/>
            </a:solidFill>
            <a:prstDash val="solid"/>
          </a:ln>
        </p:spPr>
      </p:sp>
      <p:sp>
        <p:nvSpPr>
          <p:cNvPr id="12" name="TextBox 13"/>
          <p:cNvSpPr txBox="1"/>
          <p:nvPr/>
        </p:nvSpPr>
        <p:spPr>
          <a:xfrm>
            <a:off x="9326880" y="1490472"/>
            <a:ext cx="1463040" cy="310896"/>
          </a:xfrm>
          <a:prstGeom prst="roundRect">
            <a:avLst/>
          </a:prstGeom>
          <a:solidFill>
            <a:srgbClr val="B7F34A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ctr"/>
            <a:r>
              <a:rPr lang="en-US" sz="1050" b="1">
                <a:solidFill>
                  <a:srgbClr val="06111A"/>
                </a:solidFill>
                <a:latin typeface="Aptos"/>
              </a:rPr>
              <a:t>ACTIONS</a:t>
            </a:r>
            <a:endParaRPr lang="en-US" sz="1050">
              <a:solidFill>
                <a:srgbClr val="06111A"/>
              </a:solidFill>
              <a:latin typeface="Aptos"/>
            </a:endParaRPr>
          </a:p>
        </p:txBody>
      </p:sp>
      <p:pic>
        <p:nvPicPr>
          <p:cNvPr id="13" name="Picture 14"/>
          <p:cNvPicPr>
            <a:picLocks noChangeAspect="1"/>
          </p:cNvPicPr>
          <p:nvPr/>
        </p:nvPicPr>
        <p:blipFill>
          <a:blip r:embed="rId2"/>
          <a:srcRect l="22881" t="0" r="22881" b="0"/>
          <a:stretch>
            <a:fillRect/>
          </a:stretch>
        </p:blipFill>
        <p:spPr>
          <a:xfrm>
            <a:off x="786384" y="2011680"/>
            <a:ext cx="1170432" cy="1078992"/>
          </a:xfrm>
          <a:prstGeom prst="rect">
            <a:avLst/>
          </a:prstGeom>
          <a:ln>
            <a:noFill/>
          </a:ln>
        </p:spPr>
      </p:pic>
      <p:sp>
        <p:nvSpPr>
          <p:cNvPr id="14" name="Shape 15"/>
          <p:cNvSpPr/>
          <p:nvPr/>
        </p:nvSpPr>
        <p:spPr>
          <a:xfrm>
            <a:off x="786384" y="2011680"/>
            <a:ext cx="1170432" cy="1078992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pic>
        <p:nvPicPr>
          <p:cNvPr id="15" name="Picture 16"/>
          <p:cNvPicPr>
            <a:picLocks noChangeAspect="1"/>
          </p:cNvPicPr>
          <p:nvPr/>
        </p:nvPicPr>
        <p:blipFill>
          <a:blip r:embed="rId3"/>
          <a:srcRect l="0" t="4973" r="0" b="4973"/>
          <a:stretch>
            <a:fillRect/>
          </a:stretch>
        </p:blipFill>
        <p:spPr>
          <a:xfrm>
            <a:off x="2157984" y="2011680"/>
            <a:ext cx="1298448" cy="1078992"/>
          </a:xfrm>
          <a:prstGeom prst="rect">
            <a:avLst/>
          </a:prstGeom>
          <a:ln>
            <a:noFill/>
          </a:ln>
        </p:spPr>
      </p:pic>
      <p:sp>
        <p:nvSpPr>
          <p:cNvPr id="16" name="Shape 17"/>
          <p:cNvSpPr/>
          <p:nvPr/>
        </p:nvSpPr>
        <p:spPr>
          <a:xfrm>
            <a:off x="2157984" y="2011680"/>
            <a:ext cx="1298448" cy="1078992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sp>
        <p:nvSpPr>
          <p:cNvPr id="17" name="TextBox 18"/>
          <p:cNvSpPr txBox="1"/>
          <p:nvPr/>
        </p:nvSpPr>
        <p:spPr>
          <a:xfrm>
            <a:off x="850392" y="331012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50" b="1">
                <a:solidFill>
                  <a:srgbClr val="F4F8FB"/>
                </a:solidFill>
                <a:latin typeface="Aptos"/>
              </a:rPr>
              <a:t>Loops • cameras • radar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8" name="TextBox 19"/>
          <p:cNvSpPr txBox="1"/>
          <p:nvPr/>
        </p:nvSpPr>
        <p:spPr>
          <a:xfrm>
            <a:off x="850392" y="3886200"/>
            <a:ext cx="246888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>
                <a:solidFill>
                  <a:srgbClr val="9DB3C2"/>
                </a:solidFill>
                <a:latin typeface="Aptos"/>
              </a:rPr>
              <a:t>Connected data</a:t>
            </a:r>
            <a:endParaRPr lang="en-US" sz="1100">
              <a:solidFill>
                <a:srgbClr val="9DB3C2"/>
              </a:solidFill>
              <a:latin typeface="Aptos"/>
            </a:endParaRPr>
          </a:p>
          <a:p>
            <a:pPr algn="ctr"/>
            <a:r>
              <a:rPr lang="en-US" sz="1100">
                <a:solidFill>
                  <a:srgbClr val="9DB3C2"/>
                </a:solidFill>
                <a:latin typeface="Aptos"/>
              </a:rPr>
              <a:t>Transit + pedestrian demand</a:t>
            </a:r>
            <a:endParaRPr lang="en-US" sz="11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9" name="Shape 20"/>
          <p:cNvSpPr/>
          <p:nvPr/>
        </p:nvSpPr>
        <p:spPr>
          <a:xfrm>
            <a:off x="5504688" y="2057400"/>
            <a:ext cx="1143000" cy="11430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20" name="TextBox 21"/>
          <p:cNvSpPr txBox="1"/>
          <p:nvPr/>
        </p:nvSpPr>
        <p:spPr>
          <a:xfrm>
            <a:off x="5504688" y="2057400"/>
            <a:ext cx="1143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800" b="1">
                <a:solidFill>
                  <a:srgbClr val="F4F8FB"/>
                </a:solidFill>
                <a:latin typeface="Aptos"/>
              </a:rPr>
              <a:t>AI</a:t>
            </a:r>
            <a:endParaRPr lang="en-US" sz="28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1" name="TextBox 22"/>
          <p:cNvSpPr txBox="1"/>
          <p:nvPr/>
        </p:nvSpPr>
        <p:spPr>
          <a:xfrm>
            <a:off x="4809744" y="34290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F4F8FB"/>
                </a:solidFill>
                <a:latin typeface="Aptos"/>
              </a:rPr>
              <a:t>Digital flow model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2" name="TextBox 23"/>
          <p:cNvSpPr txBox="1"/>
          <p:nvPr/>
        </p:nvSpPr>
        <p:spPr>
          <a:xfrm>
            <a:off x="4809744" y="3886200"/>
            <a:ext cx="256032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>
                <a:solidFill>
                  <a:srgbClr val="9DB3C2"/>
                </a:solidFill>
                <a:latin typeface="Aptos"/>
              </a:rPr>
              <a:t>Demand forecast</a:t>
            </a:r>
            <a:endParaRPr lang="en-US" sz="1100">
              <a:solidFill>
                <a:srgbClr val="9DB3C2"/>
              </a:solidFill>
              <a:latin typeface="Aptos"/>
            </a:endParaRPr>
          </a:p>
          <a:p>
            <a:pPr algn="ctr"/>
            <a:r>
              <a:rPr lang="en-US" sz="1100">
                <a:solidFill>
                  <a:srgbClr val="9DB3C2"/>
                </a:solidFill>
                <a:latin typeface="Aptos"/>
              </a:rPr>
              <a:t>Network optimisers</a:t>
            </a:r>
            <a:endParaRPr lang="en-US" sz="1100">
              <a:solidFill>
                <a:srgbClr val="9DB3C2"/>
              </a:solidFill>
              <a:latin typeface="Aptos"/>
            </a:endParaRPr>
          </a:p>
          <a:p>
            <a:pPr algn="ctr"/>
            <a:r>
              <a:rPr lang="en-US" sz="1100">
                <a:solidFill>
                  <a:srgbClr val="9DB3C2"/>
                </a:solidFill>
                <a:latin typeface="Aptos"/>
              </a:rPr>
              <a:t>Anomaly detection</a:t>
            </a:r>
            <a:endParaRPr lang="en-US" sz="1100">
              <a:solidFill>
                <a:srgbClr val="9DB3C2"/>
              </a:solidFill>
              <a:latin typeface="Aptos"/>
            </a:endParaRPr>
          </a:p>
        </p:txBody>
      </p:sp>
      <p:pic>
        <p:nvPicPr>
          <p:cNvPr id="23" name="Picture 24"/>
          <p:cNvPicPr>
            <a:picLocks noChangeAspect="1"/>
          </p:cNvPicPr>
          <p:nvPr/>
        </p:nvPicPr>
        <p:blipFill>
          <a:blip r:embed="rId4"/>
          <a:srcRect l="0" t="11914" r="0" b="11914"/>
          <a:stretch>
            <a:fillRect/>
          </a:stretch>
        </p:blipFill>
        <p:spPr>
          <a:xfrm>
            <a:off x="8750808" y="1965960"/>
            <a:ext cx="1170432" cy="1188720"/>
          </a:xfrm>
          <a:prstGeom prst="rect">
            <a:avLst/>
          </a:prstGeom>
          <a:ln>
            <a:noFill/>
          </a:ln>
        </p:spPr>
      </p:pic>
      <p:sp>
        <p:nvSpPr>
          <p:cNvPr id="24" name="Shape 25"/>
          <p:cNvSpPr/>
          <p:nvPr/>
        </p:nvSpPr>
        <p:spPr>
          <a:xfrm>
            <a:off x="8750808" y="1965960"/>
            <a:ext cx="1170432" cy="1188720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pic>
        <p:nvPicPr>
          <p:cNvPr id="25" name="Picture 26"/>
          <p:cNvPicPr>
            <a:picLocks noChangeAspect="1"/>
          </p:cNvPicPr>
          <p:nvPr/>
        </p:nvPicPr>
        <p:blipFill>
          <a:blip r:embed="rId5"/>
          <a:srcRect l="12978" t="0" r="12978" b="0"/>
          <a:stretch>
            <a:fillRect/>
          </a:stretch>
        </p:blipFill>
        <p:spPr>
          <a:xfrm>
            <a:off x="10149840" y="1965960"/>
            <a:ext cx="1170432" cy="1188720"/>
          </a:xfrm>
          <a:prstGeom prst="rect">
            <a:avLst/>
          </a:prstGeom>
          <a:ln>
            <a:noFill/>
          </a:ln>
        </p:spPr>
      </p:pic>
      <p:sp>
        <p:nvSpPr>
          <p:cNvPr id="26" name="Shape 27"/>
          <p:cNvSpPr/>
          <p:nvPr/>
        </p:nvSpPr>
        <p:spPr>
          <a:xfrm>
            <a:off x="10149840" y="1965960"/>
            <a:ext cx="1170432" cy="1188720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sp>
        <p:nvSpPr>
          <p:cNvPr id="27" name="TextBox 28"/>
          <p:cNvSpPr txBox="1"/>
          <p:nvPr/>
        </p:nvSpPr>
        <p:spPr>
          <a:xfrm>
            <a:off x="8741664" y="340156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F4F8FB"/>
                </a:solidFill>
                <a:latin typeface="Aptos"/>
              </a:rPr>
              <a:t>Signal plans • priority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8" name="TextBox 29"/>
          <p:cNvSpPr txBox="1"/>
          <p:nvPr/>
        </p:nvSpPr>
        <p:spPr>
          <a:xfrm>
            <a:off x="8741664" y="3886200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>
                <a:solidFill>
                  <a:srgbClr val="9DB3C2"/>
                </a:solidFill>
                <a:latin typeface="Aptos"/>
              </a:rPr>
              <a:t>Alerts + dashboards</a:t>
            </a:r>
            <a:endParaRPr lang="en-US" sz="1100">
              <a:solidFill>
                <a:srgbClr val="9DB3C2"/>
              </a:solidFill>
              <a:latin typeface="Aptos"/>
            </a:endParaRPr>
          </a:p>
          <a:p>
            <a:pPr algn="ctr"/>
            <a:r>
              <a:rPr lang="en-US" sz="1100">
                <a:solidFill>
                  <a:srgbClr val="9DB3C2"/>
                </a:solidFill>
                <a:latin typeface="Aptos"/>
              </a:rPr>
              <a:t>Operator decisions</a:t>
            </a:r>
            <a:endParaRPr lang="en-US" sz="1100">
              <a:solidFill>
                <a:srgbClr val="9DB3C2"/>
              </a:solidFill>
              <a:latin typeface="Aptos"/>
            </a:endParaRPr>
          </a:p>
          <a:p>
            <a:pPr algn="ctr"/>
            <a:r>
              <a:rPr lang="en-US" sz="1100">
                <a:solidFill>
                  <a:srgbClr val="9DB3C2"/>
                </a:solidFill>
                <a:latin typeface="Aptos"/>
              </a:rPr>
              <a:t>External traveller info</a:t>
            </a:r>
            <a:endParaRPr lang="en-US" sz="11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9" name="Shape 30"/>
          <p:cNvSpPr/>
          <p:nvPr/>
        </p:nvSpPr>
        <p:spPr>
          <a:xfrm>
            <a:off x="3858768" y="3456432"/>
            <a:ext cx="438912" cy="54864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30" name="Shape 31"/>
          <p:cNvSpPr/>
          <p:nvPr/>
        </p:nvSpPr>
        <p:spPr>
          <a:xfrm>
            <a:off x="4187952" y="3383280"/>
            <a:ext cx="164592" cy="201168"/>
          </a:xfrm>
          <a:prstGeom prst="chevron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31" name="Shape 32"/>
          <p:cNvSpPr/>
          <p:nvPr/>
        </p:nvSpPr>
        <p:spPr>
          <a:xfrm>
            <a:off x="7827264" y="3456432"/>
            <a:ext cx="438912" cy="54864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32" name="Shape 33"/>
          <p:cNvSpPr/>
          <p:nvPr/>
        </p:nvSpPr>
        <p:spPr>
          <a:xfrm>
            <a:off x="8156448" y="3383280"/>
            <a:ext cx="164592" cy="201168"/>
          </a:xfrm>
          <a:prstGeom prst="chevron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33" name="TextBox 34"/>
          <p:cNvSpPr txBox="1"/>
          <p:nvPr/>
        </p:nvSpPr>
        <p:spPr>
          <a:xfrm>
            <a:off x="3063240" y="6016752"/>
            <a:ext cx="6080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50" b="1">
                <a:solidFill>
                  <a:srgbClr val="19D3B3"/>
                </a:solidFill>
                <a:latin typeface="Aptos"/>
              </a:rPr>
              <a:t>Hardware-agnostic software layer over compatible field controllers</a:t>
            </a:r>
            <a:endParaRPr lang="en-US" sz="1150">
              <a:solidFill>
                <a:srgbClr val="19D3B3"/>
              </a:solidFill>
              <a:latin typeface="Aptos"/>
            </a:endParaRPr>
          </a:p>
        </p:txBody>
      </p:sp>
      <p:sp>
        <p:nvSpPr>
          <p:cNvPr id="34" name="Shape 35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5" name="TextBox 36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Architecture synthesized from TRL SCOOT 8/8 AI material and FHWA SCOOT descriptions • Internet visuals credited on slide 20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36" name="TextBox 37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TECHNOLOGY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From detector pulse to green time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08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7" name="Shape 8"/>
          <p:cNvSpPr/>
          <p:nvPr/>
        </p:nvSpPr>
        <p:spPr>
          <a:xfrm>
            <a:off x="1042416" y="1572768"/>
            <a:ext cx="713232" cy="713232"/>
          </a:xfrm>
          <a:prstGeom prst="ellipse">
            <a:avLst/>
          </a:prstGeom>
          <a:solidFill>
            <a:srgbClr val="4EA1FF"/>
          </a:solidFill>
          <a:ln>
            <a:noFill/>
          </a:ln>
        </p:spPr>
      </p:sp>
      <p:sp>
        <p:nvSpPr>
          <p:cNvPr id="8" name="TextBox 9"/>
          <p:cNvSpPr txBox="1"/>
          <p:nvPr/>
        </p:nvSpPr>
        <p:spPr>
          <a:xfrm>
            <a:off x="1042416" y="1572768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700" b="1">
                <a:solidFill>
                  <a:srgbClr val="06111A"/>
                </a:solidFill>
                <a:latin typeface="Aptos"/>
              </a:rPr>
              <a:t>1</a:t>
            </a:r>
            <a:endParaRPr lang="en-US" sz="17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530352" y="24871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20" b="1">
                <a:solidFill>
                  <a:srgbClr val="F4F8FB"/>
                </a:solidFill>
                <a:latin typeface="Aptos"/>
              </a:rPr>
              <a:t>DETECT</a:t>
            </a:r>
            <a:endParaRPr lang="en-US" sz="122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530352" y="288950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50">
                <a:solidFill>
                  <a:srgbClr val="4EA1FF"/>
                </a:solidFill>
                <a:latin typeface="Aptos"/>
              </a:rPr>
              <a:t>flow • speed</a:t>
            </a:r>
            <a:endParaRPr lang="en-US" sz="950">
              <a:solidFill>
                <a:srgbClr val="4EA1FF"/>
              </a:solidFill>
              <a:latin typeface="Aptos"/>
            </a:endParaRPr>
          </a:p>
        </p:txBody>
      </p:sp>
      <p:sp>
        <p:nvSpPr>
          <p:cNvPr id="11" name="Shape 12"/>
          <p:cNvSpPr/>
          <p:nvPr/>
        </p:nvSpPr>
        <p:spPr>
          <a:xfrm>
            <a:off x="2011680" y="1892808"/>
            <a:ext cx="301752" cy="54864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2" name="Shape 13"/>
          <p:cNvSpPr/>
          <p:nvPr/>
        </p:nvSpPr>
        <p:spPr>
          <a:xfrm>
            <a:off x="2203704" y="1819656"/>
            <a:ext cx="164592" cy="201168"/>
          </a:xfrm>
          <a:prstGeom prst="chevron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3" name="Shape 14"/>
          <p:cNvSpPr/>
          <p:nvPr/>
        </p:nvSpPr>
        <p:spPr>
          <a:xfrm>
            <a:off x="2944368" y="1572768"/>
            <a:ext cx="713232" cy="713232"/>
          </a:xfrm>
          <a:prstGeom prst="ellipse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14" name="TextBox 15"/>
          <p:cNvSpPr txBox="1"/>
          <p:nvPr/>
        </p:nvSpPr>
        <p:spPr>
          <a:xfrm>
            <a:off x="2944368" y="1572768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700" b="1">
                <a:solidFill>
                  <a:srgbClr val="06111A"/>
                </a:solidFill>
                <a:latin typeface="Aptos"/>
              </a:rPr>
              <a:t>2</a:t>
            </a:r>
            <a:endParaRPr lang="en-US" sz="17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15" name="TextBox 16"/>
          <p:cNvSpPr txBox="1"/>
          <p:nvPr/>
        </p:nvSpPr>
        <p:spPr>
          <a:xfrm>
            <a:off x="2432304" y="24871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20" b="1">
                <a:solidFill>
                  <a:srgbClr val="F4F8FB"/>
                </a:solidFill>
                <a:latin typeface="Aptos"/>
              </a:rPr>
              <a:t>CLEAN</a:t>
            </a:r>
            <a:endParaRPr lang="en-US" sz="122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6" name="TextBox 17"/>
          <p:cNvSpPr txBox="1"/>
          <p:nvPr/>
        </p:nvSpPr>
        <p:spPr>
          <a:xfrm>
            <a:off x="2432304" y="288950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50">
                <a:solidFill>
                  <a:srgbClr val="19D3B3"/>
                </a:solidFill>
                <a:latin typeface="Aptos"/>
              </a:rPr>
              <a:t>health • fuse</a:t>
            </a:r>
            <a:endParaRPr lang="en-US" sz="950">
              <a:solidFill>
                <a:srgbClr val="19D3B3"/>
              </a:solidFill>
              <a:latin typeface="Aptos"/>
            </a:endParaRPr>
          </a:p>
        </p:txBody>
      </p:sp>
      <p:sp>
        <p:nvSpPr>
          <p:cNvPr id="17" name="Shape 18"/>
          <p:cNvSpPr/>
          <p:nvPr/>
        </p:nvSpPr>
        <p:spPr>
          <a:xfrm>
            <a:off x="3913632" y="1892808"/>
            <a:ext cx="301752" cy="54864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8" name="Shape 19"/>
          <p:cNvSpPr/>
          <p:nvPr/>
        </p:nvSpPr>
        <p:spPr>
          <a:xfrm>
            <a:off x="4105656" y="1819656"/>
            <a:ext cx="164592" cy="201168"/>
          </a:xfrm>
          <a:prstGeom prst="chevron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9" name="Shape 20"/>
          <p:cNvSpPr/>
          <p:nvPr/>
        </p:nvSpPr>
        <p:spPr>
          <a:xfrm>
            <a:off x="4846320" y="1572768"/>
            <a:ext cx="713232" cy="7132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20" name="TextBox 21"/>
          <p:cNvSpPr txBox="1"/>
          <p:nvPr/>
        </p:nvSpPr>
        <p:spPr>
          <a:xfrm>
            <a:off x="4846320" y="1572768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700" b="1">
                <a:solidFill>
                  <a:srgbClr val="06111A"/>
                </a:solidFill>
                <a:latin typeface="Aptos"/>
              </a:rPr>
              <a:t>3</a:t>
            </a:r>
            <a:endParaRPr lang="en-US" sz="17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21" name="TextBox 22"/>
          <p:cNvSpPr txBox="1"/>
          <p:nvPr/>
        </p:nvSpPr>
        <p:spPr>
          <a:xfrm>
            <a:off x="4334256" y="24871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20" b="1">
                <a:solidFill>
                  <a:srgbClr val="F4F8FB"/>
                </a:solidFill>
                <a:latin typeface="Aptos"/>
              </a:rPr>
              <a:t>ESTIMATE</a:t>
            </a:r>
            <a:endParaRPr lang="en-US" sz="122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2" name="TextBox 23"/>
          <p:cNvSpPr txBox="1"/>
          <p:nvPr/>
        </p:nvSpPr>
        <p:spPr>
          <a:xfrm>
            <a:off x="4334256" y="288950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50">
                <a:solidFill>
                  <a:srgbClr val="A78BFA"/>
                </a:solidFill>
                <a:latin typeface="Aptos"/>
              </a:rPr>
              <a:t>queues • platoons</a:t>
            </a:r>
            <a:endParaRPr lang="en-US" sz="950">
              <a:solidFill>
                <a:srgbClr val="A78BFA"/>
              </a:solidFill>
              <a:latin typeface="Aptos"/>
            </a:endParaRPr>
          </a:p>
        </p:txBody>
      </p:sp>
      <p:sp>
        <p:nvSpPr>
          <p:cNvPr id="23" name="Shape 24"/>
          <p:cNvSpPr/>
          <p:nvPr/>
        </p:nvSpPr>
        <p:spPr>
          <a:xfrm>
            <a:off x="5815584" y="1892808"/>
            <a:ext cx="301752" cy="54864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4" name="Shape 25"/>
          <p:cNvSpPr/>
          <p:nvPr/>
        </p:nvSpPr>
        <p:spPr>
          <a:xfrm>
            <a:off x="6007608" y="1819656"/>
            <a:ext cx="164592" cy="201168"/>
          </a:xfrm>
          <a:prstGeom prst="chevron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5" name="Shape 26"/>
          <p:cNvSpPr/>
          <p:nvPr/>
        </p:nvSpPr>
        <p:spPr>
          <a:xfrm>
            <a:off x="6748272" y="1572768"/>
            <a:ext cx="713232" cy="713232"/>
          </a:xfrm>
          <a:prstGeom prst="ellipse">
            <a:avLst/>
          </a:prstGeom>
          <a:solidFill>
            <a:srgbClr val="B7F34A"/>
          </a:solidFill>
          <a:ln>
            <a:noFill/>
          </a:ln>
        </p:spPr>
      </p:sp>
      <p:sp>
        <p:nvSpPr>
          <p:cNvPr id="26" name="TextBox 27"/>
          <p:cNvSpPr txBox="1"/>
          <p:nvPr/>
        </p:nvSpPr>
        <p:spPr>
          <a:xfrm>
            <a:off x="6748272" y="1572768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700" b="1">
                <a:solidFill>
                  <a:srgbClr val="06111A"/>
                </a:solidFill>
                <a:latin typeface="Aptos"/>
              </a:rPr>
              <a:t>4</a:t>
            </a:r>
            <a:endParaRPr lang="en-US" sz="17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27" name="TextBox 28"/>
          <p:cNvSpPr txBox="1"/>
          <p:nvPr/>
        </p:nvSpPr>
        <p:spPr>
          <a:xfrm>
            <a:off x="6236208" y="24871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20" b="1">
                <a:solidFill>
                  <a:srgbClr val="F4F8FB"/>
                </a:solidFill>
                <a:latin typeface="Aptos"/>
              </a:rPr>
              <a:t>FORECAST</a:t>
            </a:r>
            <a:endParaRPr lang="en-US" sz="122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8" name="TextBox 29"/>
          <p:cNvSpPr txBox="1"/>
          <p:nvPr/>
        </p:nvSpPr>
        <p:spPr>
          <a:xfrm>
            <a:off x="6236208" y="288950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50">
                <a:solidFill>
                  <a:srgbClr val="B7F34A"/>
                </a:solidFill>
                <a:latin typeface="Aptos"/>
              </a:rPr>
              <a:t>0 → 30 min</a:t>
            </a:r>
            <a:endParaRPr lang="en-US" sz="950">
              <a:solidFill>
                <a:srgbClr val="B7F34A"/>
              </a:solidFill>
              <a:latin typeface="Aptos"/>
            </a:endParaRPr>
          </a:p>
        </p:txBody>
      </p:sp>
      <p:sp>
        <p:nvSpPr>
          <p:cNvPr id="29" name="Shape 30"/>
          <p:cNvSpPr/>
          <p:nvPr/>
        </p:nvSpPr>
        <p:spPr>
          <a:xfrm>
            <a:off x="7717536" y="1892808"/>
            <a:ext cx="301752" cy="54864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0" name="Shape 31"/>
          <p:cNvSpPr/>
          <p:nvPr/>
        </p:nvSpPr>
        <p:spPr>
          <a:xfrm>
            <a:off x="7909560" y="1819656"/>
            <a:ext cx="164592" cy="201168"/>
          </a:xfrm>
          <a:prstGeom prst="chevron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1" name="Shape 32"/>
          <p:cNvSpPr/>
          <p:nvPr/>
        </p:nvSpPr>
        <p:spPr>
          <a:xfrm>
            <a:off x="8650224" y="1572768"/>
            <a:ext cx="713232" cy="713232"/>
          </a:xfrm>
          <a:prstGeom prst="ellipse">
            <a:avLst/>
          </a:prstGeom>
          <a:solidFill>
            <a:srgbClr val="FFB547"/>
          </a:solidFill>
          <a:ln>
            <a:noFill/>
          </a:ln>
        </p:spPr>
      </p:sp>
      <p:sp>
        <p:nvSpPr>
          <p:cNvPr id="32" name="TextBox 33"/>
          <p:cNvSpPr txBox="1"/>
          <p:nvPr/>
        </p:nvSpPr>
        <p:spPr>
          <a:xfrm>
            <a:off x="8650224" y="1572768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700" b="1">
                <a:solidFill>
                  <a:srgbClr val="06111A"/>
                </a:solidFill>
                <a:latin typeface="Aptos"/>
              </a:rPr>
              <a:t>5</a:t>
            </a:r>
            <a:endParaRPr lang="en-US" sz="17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33" name="TextBox 34"/>
          <p:cNvSpPr txBox="1"/>
          <p:nvPr/>
        </p:nvSpPr>
        <p:spPr>
          <a:xfrm>
            <a:off x="8138160" y="24871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20" b="1">
                <a:solidFill>
                  <a:srgbClr val="F4F8FB"/>
                </a:solidFill>
                <a:latin typeface="Aptos"/>
              </a:rPr>
              <a:t>OPTIMISE</a:t>
            </a:r>
            <a:endParaRPr lang="en-US" sz="1220">
              <a:solidFill>
                <a:srgbClr val="F4F8FB"/>
              </a:solidFill>
              <a:latin typeface="Aptos"/>
            </a:endParaRPr>
          </a:p>
        </p:txBody>
      </p:sp>
      <p:sp>
        <p:nvSpPr>
          <p:cNvPr id="34" name="TextBox 35"/>
          <p:cNvSpPr txBox="1"/>
          <p:nvPr/>
        </p:nvSpPr>
        <p:spPr>
          <a:xfrm>
            <a:off x="8138160" y="288950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50">
                <a:solidFill>
                  <a:srgbClr val="FFB547"/>
                </a:solidFill>
                <a:latin typeface="Aptos"/>
              </a:rPr>
              <a:t>cycle • split • offset</a:t>
            </a:r>
            <a:endParaRPr lang="en-US" sz="950">
              <a:solidFill>
                <a:srgbClr val="FFB547"/>
              </a:solidFill>
              <a:latin typeface="Aptos"/>
            </a:endParaRPr>
          </a:p>
        </p:txBody>
      </p:sp>
      <p:sp>
        <p:nvSpPr>
          <p:cNvPr id="35" name="Shape 36"/>
          <p:cNvSpPr/>
          <p:nvPr/>
        </p:nvSpPr>
        <p:spPr>
          <a:xfrm>
            <a:off x="9619488" y="1892808"/>
            <a:ext cx="301752" cy="54864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6" name="Shape 37"/>
          <p:cNvSpPr/>
          <p:nvPr/>
        </p:nvSpPr>
        <p:spPr>
          <a:xfrm>
            <a:off x="9811512" y="1819656"/>
            <a:ext cx="164592" cy="201168"/>
          </a:xfrm>
          <a:prstGeom prst="chevron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7" name="Shape 38"/>
          <p:cNvSpPr/>
          <p:nvPr/>
        </p:nvSpPr>
        <p:spPr>
          <a:xfrm>
            <a:off x="10552176" y="1572768"/>
            <a:ext cx="713232" cy="713232"/>
          </a:xfrm>
          <a:prstGeom prst="ellipse">
            <a:avLst/>
          </a:prstGeom>
          <a:solidFill>
            <a:srgbClr val="FF667A"/>
          </a:solidFill>
          <a:ln>
            <a:noFill/>
          </a:ln>
        </p:spPr>
      </p:sp>
      <p:sp>
        <p:nvSpPr>
          <p:cNvPr id="38" name="TextBox 39"/>
          <p:cNvSpPr txBox="1"/>
          <p:nvPr/>
        </p:nvSpPr>
        <p:spPr>
          <a:xfrm>
            <a:off x="10552176" y="1572768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700" b="1">
                <a:solidFill>
                  <a:srgbClr val="06111A"/>
                </a:solidFill>
                <a:latin typeface="Aptos"/>
              </a:rPr>
              <a:t>6</a:t>
            </a:r>
            <a:endParaRPr lang="en-US" sz="17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39" name="TextBox 40"/>
          <p:cNvSpPr txBox="1"/>
          <p:nvPr/>
        </p:nvSpPr>
        <p:spPr>
          <a:xfrm>
            <a:off x="10040112" y="24871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20" b="1">
                <a:solidFill>
                  <a:srgbClr val="F4F8FB"/>
                </a:solidFill>
                <a:latin typeface="Aptos"/>
              </a:rPr>
              <a:t>COMMAND</a:t>
            </a:r>
            <a:endParaRPr lang="en-US" sz="1220">
              <a:solidFill>
                <a:srgbClr val="F4F8FB"/>
              </a:solidFill>
              <a:latin typeface="Aptos"/>
            </a:endParaRPr>
          </a:p>
        </p:txBody>
      </p:sp>
      <p:sp>
        <p:nvSpPr>
          <p:cNvPr id="40" name="TextBox 41"/>
          <p:cNvSpPr txBox="1"/>
          <p:nvPr/>
        </p:nvSpPr>
        <p:spPr>
          <a:xfrm>
            <a:off x="10040112" y="288950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50">
                <a:solidFill>
                  <a:srgbClr val="FF667A"/>
                </a:solidFill>
                <a:latin typeface="Aptos"/>
              </a:rPr>
              <a:t>controller</a:t>
            </a:r>
            <a:endParaRPr lang="en-US" sz="950">
              <a:solidFill>
                <a:srgbClr val="FF667A"/>
              </a:solidFill>
              <a:latin typeface="Aptos"/>
            </a:endParaRPr>
          </a:p>
        </p:txBody>
      </p:sp>
      <p:sp>
        <p:nvSpPr>
          <p:cNvPr id="41" name="Shape 42"/>
          <p:cNvSpPr/>
          <p:nvPr/>
        </p:nvSpPr>
        <p:spPr>
          <a:xfrm>
            <a:off x="658368" y="3657600"/>
            <a:ext cx="10881360" cy="1856232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pic>
        <p:nvPicPr>
          <p:cNvPr id="42" name="Picture 43"/>
          <p:cNvPicPr>
            <a:picLocks noChangeAspect="1"/>
          </p:cNvPicPr>
          <p:nvPr/>
        </p:nvPicPr>
        <p:blipFill>
          <a:blip r:embed="rId2"/>
          <a:srcRect l="0" t="7715" r="0" b="7715"/>
          <a:stretch>
            <a:fillRect/>
          </a:stretch>
        </p:blipFill>
        <p:spPr>
          <a:xfrm>
            <a:off x="868680" y="3877056"/>
            <a:ext cx="2423160" cy="1417320"/>
          </a:xfrm>
          <a:prstGeom prst="rect">
            <a:avLst/>
          </a:prstGeom>
          <a:ln>
            <a:noFill/>
          </a:ln>
        </p:spPr>
      </p:pic>
      <p:sp>
        <p:nvSpPr>
          <p:cNvPr id="43" name="Shape 44"/>
          <p:cNvSpPr/>
          <p:nvPr/>
        </p:nvSpPr>
        <p:spPr>
          <a:xfrm>
            <a:off x="868680" y="3877056"/>
            <a:ext cx="2423160" cy="1417320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sp>
        <p:nvSpPr>
          <p:cNvPr id="44" name="TextBox 45"/>
          <p:cNvSpPr txBox="1"/>
          <p:nvPr/>
        </p:nvSpPr>
        <p:spPr>
          <a:xfrm>
            <a:off x="3611880" y="3986784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>
                <a:solidFill>
                  <a:srgbClr val="4EA1FF"/>
                </a:solidFill>
                <a:latin typeface="Aptos"/>
              </a:rPr>
              <a:t>SECOND-BY-SECOND</a:t>
            </a:r>
            <a:endParaRPr lang="en-US" sz="1100">
              <a:solidFill>
                <a:srgbClr val="4EA1FF"/>
              </a:solidFill>
              <a:latin typeface="Aptos"/>
            </a:endParaRPr>
          </a:p>
        </p:txBody>
      </p:sp>
      <p:sp>
        <p:nvSpPr>
          <p:cNvPr id="45" name="TextBox 46"/>
          <p:cNvSpPr txBox="1"/>
          <p:nvPr/>
        </p:nvSpPr>
        <p:spPr>
          <a:xfrm>
            <a:off x="3611880" y="4407408"/>
            <a:ext cx="2057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measure + update state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46" name="TextBox 47"/>
          <p:cNvSpPr txBox="1"/>
          <p:nvPr/>
        </p:nvSpPr>
        <p:spPr>
          <a:xfrm>
            <a:off x="5715000" y="3986784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>
                <a:solidFill>
                  <a:srgbClr val="19D3B3"/>
                </a:solidFill>
                <a:latin typeface="Aptos"/>
              </a:rPr>
              <a:t>EACH CONTROL STEP</a:t>
            </a:r>
            <a:endParaRPr lang="en-US" sz="11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7" name="TextBox 48"/>
          <p:cNvSpPr txBox="1"/>
          <p:nvPr/>
        </p:nvSpPr>
        <p:spPr>
          <a:xfrm>
            <a:off x="5715000" y="4407408"/>
            <a:ext cx="2057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test small timing changes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48" name="TextBox 49"/>
          <p:cNvSpPr txBox="1"/>
          <p:nvPr/>
        </p:nvSpPr>
        <p:spPr>
          <a:xfrm>
            <a:off x="7818120" y="398678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>
                <a:solidFill>
                  <a:srgbClr val="B7F34A"/>
                </a:solidFill>
                <a:latin typeface="Aptos"/>
              </a:rPr>
              <a:t>+30 MINUTES</a:t>
            </a:r>
            <a:endParaRPr lang="en-US" sz="11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49" name="TextBox 50"/>
          <p:cNvSpPr txBox="1"/>
          <p:nvPr/>
        </p:nvSpPr>
        <p:spPr>
          <a:xfrm>
            <a:off x="7818120" y="440740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prepare for demand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50" name="TextBox 51"/>
          <p:cNvSpPr txBox="1"/>
          <p:nvPr/>
        </p:nvSpPr>
        <p:spPr>
          <a:xfrm>
            <a:off x="9829800" y="3986784"/>
            <a:ext cx="7315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3000" b="1">
                <a:solidFill>
                  <a:srgbClr val="FFB547"/>
                </a:solidFill>
                <a:latin typeface="Aptos"/>
              </a:rPr>
              <a:t>↺</a:t>
            </a:r>
            <a:endParaRPr lang="en-US" sz="3000">
              <a:solidFill>
                <a:srgbClr val="FFB547"/>
              </a:solidFill>
              <a:latin typeface="Aptos"/>
            </a:endParaRPr>
          </a:p>
        </p:txBody>
      </p:sp>
      <p:sp>
        <p:nvSpPr>
          <p:cNvPr id="51" name="TextBox 52"/>
          <p:cNvSpPr txBox="1"/>
          <p:nvPr/>
        </p:nvSpPr>
        <p:spPr>
          <a:xfrm>
            <a:off x="9555480" y="45994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50">
                <a:solidFill>
                  <a:srgbClr val="9DB3C2"/>
                </a:solidFill>
                <a:latin typeface="Aptos"/>
              </a:rPr>
              <a:t>measure outcome</a:t>
            </a:r>
            <a:endParaRPr lang="en-US" sz="9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52" name="Shape 53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53" name="TextBox 54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Sources: TRL SCOOT 8/8 AI; FHWA Traffic Detector Handbook • Detection visual: Adaptive Traffic Signal Timer repo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54" name="TextBox 55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CLASSIC SCOOT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The three controls inside SCOOT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09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7" name="Shape 8"/>
          <p:cNvSpPr/>
          <p:nvPr/>
        </p:nvSpPr>
        <p:spPr>
          <a:xfrm>
            <a:off x="621792" y="1280160"/>
            <a:ext cx="3291840" cy="4526280"/>
          </a:xfrm>
          <a:prstGeom prst="roundRect">
            <a:avLst/>
          </a:prstGeom>
          <a:solidFill>
            <a:srgbClr val="0E2332"/>
          </a:solidFill>
          <a:ln w="16510">
            <a:solidFill>
              <a:srgbClr val="4EA1FF"/>
            </a:solidFill>
            <a:prstDash val="solid"/>
          </a:ln>
        </p:spPr>
      </p:sp>
      <p:sp>
        <p:nvSpPr>
          <p:cNvPr id="8" name="TextBox 9"/>
          <p:cNvSpPr txBox="1"/>
          <p:nvPr/>
        </p:nvSpPr>
        <p:spPr>
          <a:xfrm>
            <a:off x="1536192" y="1499616"/>
            <a:ext cx="1463040" cy="310896"/>
          </a:xfrm>
          <a:prstGeom prst="roundRect">
            <a:avLst/>
          </a:prstGeom>
          <a:solidFill>
            <a:srgbClr val="4EA1FF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ctr"/>
            <a:r>
              <a:rPr lang="en-US" sz="1050" b="1">
                <a:solidFill>
                  <a:srgbClr val="06111A"/>
                </a:solidFill>
                <a:latin typeface="Aptos"/>
              </a:rPr>
              <a:t>CYCLE</a:t>
            </a:r>
            <a:endParaRPr lang="en-US" sz="1050">
              <a:solidFill>
                <a:srgbClr val="06111A"/>
              </a:solidFill>
              <a:latin typeface="Aptos"/>
            </a:endParaRPr>
          </a:p>
        </p:txBody>
      </p:sp>
      <p:sp>
        <p:nvSpPr>
          <p:cNvPr id="9" name="Shape 10"/>
          <p:cNvSpPr/>
          <p:nvPr/>
        </p:nvSpPr>
        <p:spPr>
          <a:xfrm>
            <a:off x="4288536" y="1280160"/>
            <a:ext cx="3291840" cy="4526280"/>
          </a:xfrm>
          <a:prstGeom prst="roundRect">
            <a:avLst/>
          </a:prstGeom>
          <a:solidFill>
            <a:srgbClr val="0E2332"/>
          </a:solidFill>
          <a:ln w="16510">
            <a:solidFill>
              <a:srgbClr val="19D3B3"/>
            </a:solidFill>
            <a:prstDash val="solid"/>
          </a:ln>
        </p:spPr>
      </p:sp>
      <p:sp>
        <p:nvSpPr>
          <p:cNvPr id="10" name="TextBox 11"/>
          <p:cNvSpPr txBox="1"/>
          <p:nvPr/>
        </p:nvSpPr>
        <p:spPr>
          <a:xfrm>
            <a:off x="5202936" y="1499616"/>
            <a:ext cx="1463040" cy="310896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ctr"/>
            <a:r>
              <a:rPr lang="en-US" sz="1050" b="1">
                <a:solidFill>
                  <a:srgbClr val="06111A"/>
                </a:solidFill>
                <a:latin typeface="Aptos"/>
              </a:rPr>
              <a:t>SPLIT</a:t>
            </a:r>
            <a:endParaRPr lang="en-US" sz="1050">
              <a:solidFill>
                <a:srgbClr val="06111A"/>
              </a:solidFill>
              <a:latin typeface="Aptos"/>
            </a:endParaRPr>
          </a:p>
        </p:txBody>
      </p:sp>
      <p:sp>
        <p:nvSpPr>
          <p:cNvPr id="11" name="Shape 12"/>
          <p:cNvSpPr/>
          <p:nvPr/>
        </p:nvSpPr>
        <p:spPr>
          <a:xfrm>
            <a:off x="7955280" y="1280160"/>
            <a:ext cx="3291840" cy="4526280"/>
          </a:xfrm>
          <a:prstGeom prst="roundRect">
            <a:avLst/>
          </a:prstGeom>
          <a:solidFill>
            <a:srgbClr val="0E2332"/>
          </a:solidFill>
          <a:ln w="16510">
            <a:solidFill>
              <a:srgbClr val="FFB547"/>
            </a:solidFill>
            <a:prstDash val="solid"/>
          </a:ln>
        </p:spPr>
      </p:sp>
      <p:sp>
        <p:nvSpPr>
          <p:cNvPr id="12" name="TextBox 13"/>
          <p:cNvSpPr txBox="1"/>
          <p:nvPr/>
        </p:nvSpPr>
        <p:spPr>
          <a:xfrm>
            <a:off x="8869680" y="1499616"/>
            <a:ext cx="1463040" cy="310896"/>
          </a:xfrm>
          <a:prstGeom prst="roundRect">
            <a:avLst/>
          </a:prstGeom>
          <a:solidFill>
            <a:srgbClr val="FFB547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ctr"/>
            <a:r>
              <a:rPr lang="en-US" sz="1050" b="1">
                <a:solidFill>
                  <a:srgbClr val="06111A"/>
                </a:solidFill>
                <a:latin typeface="Aptos"/>
              </a:rPr>
              <a:t>OFFSET</a:t>
            </a:r>
            <a:endParaRPr lang="en-US" sz="1050">
              <a:solidFill>
                <a:srgbClr val="06111A"/>
              </a:solidFill>
              <a:latin typeface="Aptos"/>
            </a:endParaRPr>
          </a:p>
        </p:txBody>
      </p:sp>
      <p:sp>
        <p:nvSpPr>
          <p:cNvPr id="13" name="Shape 14"/>
          <p:cNvSpPr/>
          <p:nvPr/>
        </p:nvSpPr>
        <p:spPr>
          <a:xfrm>
            <a:off x="1572768" y="2267712"/>
            <a:ext cx="1417320" cy="1417320"/>
          </a:xfrm>
          <a:prstGeom prst="ellipse">
            <a:avLst/>
          </a:prstGeom>
          <a:solidFill>
            <a:srgbClr val="143244"/>
          </a:solidFill>
          <a:ln w="76200">
            <a:solidFill>
              <a:srgbClr val="4EA1FF"/>
            </a:solidFill>
            <a:prstDash val="solid"/>
          </a:ln>
        </p:spPr>
      </p:sp>
      <p:sp>
        <p:nvSpPr>
          <p:cNvPr id="14" name="TextBox 15"/>
          <p:cNvSpPr txBox="1"/>
          <p:nvPr/>
        </p:nvSpPr>
        <p:spPr>
          <a:xfrm>
            <a:off x="1572768" y="2267712"/>
            <a:ext cx="141732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400" b="1">
                <a:solidFill>
                  <a:srgbClr val="F4F8FB"/>
                </a:solidFill>
                <a:latin typeface="Aptos"/>
              </a:rPr>
              <a:t>90 s</a:t>
            </a:r>
            <a:endParaRPr lang="en-US" sz="24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5" name="TextBox 16"/>
          <p:cNvSpPr txBox="1"/>
          <p:nvPr/>
        </p:nvSpPr>
        <p:spPr>
          <a:xfrm>
            <a:off x="1005840" y="3968496"/>
            <a:ext cx="248716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F4F8FB"/>
                </a:solidFill>
                <a:latin typeface="Aptos"/>
              </a:rPr>
              <a:t>Total time for one</a:t>
            </a:r>
            <a:endParaRPr lang="en-US" sz="1300">
              <a:solidFill>
                <a:srgbClr val="F4F8FB"/>
              </a:solidFill>
              <a:latin typeface="Aptos"/>
            </a:endParaRPr>
          </a:p>
          <a:p>
            <a:pPr algn="ctr"/>
            <a:r>
              <a:rPr lang="en-US" sz="1300" b="1">
                <a:solidFill>
                  <a:srgbClr val="F4F8FB"/>
                </a:solidFill>
                <a:latin typeface="Aptos"/>
              </a:rPr>
              <a:t>signal sequence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6" name="TextBox 17"/>
          <p:cNvSpPr txBox="1"/>
          <p:nvPr/>
        </p:nvSpPr>
        <p:spPr>
          <a:xfrm>
            <a:off x="969264" y="495604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Longer when network demand rises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7" name="TextBox 18"/>
          <p:cNvSpPr txBox="1"/>
          <p:nvPr/>
        </p:nvSpPr>
        <p:spPr>
          <a:xfrm>
            <a:off x="4663440" y="228600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9DB3C2"/>
                </a:solidFill>
                <a:latin typeface="Aptos"/>
              </a:rPr>
              <a:t>N–S</a:t>
            </a:r>
            <a:endParaRPr lang="en-US" sz="9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8" name="Shape 19"/>
          <p:cNvSpPr/>
          <p:nvPr/>
        </p:nvSpPr>
        <p:spPr>
          <a:xfrm>
            <a:off x="5230368" y="2240280"/>
            <a:ext cx="1600200" cy="384048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19" name="Shape 20"/>
          <p:cNvSpPr/>
          <p:nvPr/>
        </p:nvSpPr>
        <p:spPr>
          <a:xfrm>
            <a:off x="6830568" y="2240280"/>
            <a:ext cx="393192" cy="384048"/>
          </a:xfrm>
          <a:prstGeom prst="roundRect">
            <a:avLst/>
          </a:prstGeom>
          <a:solidFill>
            <a:srgbClr val="FF667A"/>
          </a:solidFill>
          <a:ln>
            <a:noFill/>
          </a:ln>
        </p:spPr>
      </p:sp>
      <p:sp>
        <p:nvSpPr>
          <p:cNvPr id="20" name="TextBox 21"/>
          <p:cNvSpPr txBox="1"/>
          <p:nvPr/>
        </p:nvSpPr>
        <p:spPr>
          <a:xfrm>
            <a:off x="4663440" y="2862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9DB3C2"/>
                </a:solidFill>
                <a:latin typeface="Aptos"/>
              </a:rPr>
              <a:t>E–W</a:t>
            </a:r>
            <a:endParaRPr lang="en-US" sz="9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1" name="Shape 22"/>
          <p:cNvSpPr/>
          <p:nvPr/>
        </p:nvSpPr>
        <p:spPr>
          <a:xfrm>
            <a:off x="5230368" y="2816352"/>
            <a:ext cx="960120" cy="384048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22" name="Shape 23"/>
          <p:cNvSpPr/>
          <p:nvPr/>
        </p:nvSpPr>
        <p:spPr>
          <a:xfrm>
            <a:off x="6190488" y="2816352"/>
            <a:ext cx="1033272" cy="384048"/>
          </a:xfrm>
          <a:prstGeom prst="roundRect">
            <a:avLst/>
          </a:prstGeom>
          <a:solidFill>
            <a:srgbClr val="FF667A"/>
          </a:solidFill>
          <a:ln>
            <a:noFill/>
          </a:ln>
        </p:spPr>
      </p:sp>
      <p:sp>
        <p:nvSpPr>
          <p:cNvPr id="23" name="TextBox 24"/>
          <p:cNvSpPr txBox="1"/>
          <p:nvPr/>
        </p:nvSpPr>
        <p:spPr>
          <a:xfrm>
            <a:off x="4709160" y="3968496"/>
            <a:ext cx="248716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F4F8FB"/>
                </a:solidFill>
                <a:latin typeface="Aptos"/>
              </a:rPr>
              <a:t>How the cycle is</a:t>
            </a:r>
            <a:endParaRPr lang="en-US" sz="1300">
              <a:solidFill>
                <a:srgbClr val="F4F8FB"/>
              </a:solidFill>
              <a:latin typeface="Aptos"/>
            </a:endParaRPr>
          </a:p>
          <a:p>
            <a:pPr algn="ctr"/>
            <a:r>
              <a:rPr lang="en-US" sz="1300" b="1">
                <a:solidFill>
                  <a:srgbClr val="F4F8FB"/>
                </a:solidFill>
                <a:latin typeface="Aptos"/>
              </a:rPr>
              <a:t>shared as green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4" name="TextBox 25"/>
          <p:cNvSpPr txBox="1"/>
          <p:nvPr/>
        </p:nvSpPr>
        <p:spPr>
          <a:xfrm>
            <a:off x="4645152" y="4956048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More demand → more useful green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5" name="TextBox 26"/>
          <p:cNvSpPr txBox="1"/>
          <p:nvPr/>
        </p:nvSpPr>
        <p:spPr>
          <a:xfrm>
            <a:off x="8366760" y="2157984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4F8FB"/>
                </a:solidFill>
                <a:latin typeface="Aptos"/>
              </a:rPr>
              <a:t>A</a:t>
            </a:r>
            <a:endParaRPr lang="en-US" sz="10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6" name="Shape 27"/>
          <p:cNvSpPr/>
          <p:nvPr/>
        </p:nvSpPr>
        <p:spPr>
          <a:xfrm>
            <a:off x="8851392" y="2176272"/>
            <a:ext cx="1234440" cy="292608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27" name="Shape 28"/>
          <p:cNvSpPr/>
          <p:nvPr/>
        </p:nvSpPr>
        <p:spPr>
          <a:xfrm>
            <a:off x="10085832" y="2176272"/>
            <a:ext cx="640080" cy="292608"/>
          </a:xfrm>
          <a:prstGeom prst="roundRect">
            <a:avLst/>
          </a:prstGeom>
          <a:solidFill>
            <a:srgbClr val="FF667A"/>
          </a:solidFill>
          <a:ln>
            <a:noFill/>
          </a:ln>
        </p:spPr>
      </p:sp>
      <p:sp>
        <p:nvSpPr>
          <p:cNvPr id="28" name="TextBox 29"/>
          <p:cNvSpPr txBox="1"/>
          <p:nvPr/>
        </p:nvSpPr>
        <p:spPr>
          <a:xfrm>
            <a:off x="8366760" y="2871216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F4F8FB"/>
                </a:solidFill>
                <a:latin typeface="Aptos"/>
              </a:rPr>
              <a:t>B</a:t>
            </a:r>
            <a:endParaRPr lang="en-US" sz="10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9" name="Shape 30"/>
          <p:cNvSpPr/>
          <p:nvPr/>
        </p:nvSpPr>
        <p:spPr>
          <a:xfrm>
            <a:off x="9436608" y="2889504"/>
            <a:ext cx="1234440" cy="292608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30" name="Shape 31"/>
          <p:cNvSpPr/>
          <p:nvPr/>
        </p:nvSpPr>
        <p:spPr>
          <a:xfrm>
            <a:off x="8851392" y="2889504"/>
            <a:ext cx="585216" cy="292608"/>
          </a:xfrm>
          <a:prstGeom prst="rect">
            <a:avLst/>
          </a:prstGeom>
          <a:solidFill>
            <a:srgbClr val="143244"/>
          </a:solidFill>
          <a:ln>
            <a:noFill/>
          </a:ln>
        </p:spPr>
      </p:sp>
      <p:sp>
        <p:nvSpPr>
          <p:cNvPr id="31" name="Shape 32"/>
          <p:cNvSpPr/>
          <p:nvPr/>
        </p:nvSpPr>
        <p:spPr>
          <a:xfrm>
            <a:off x="9144000" y="2532888"/>
            <a:ext cx="32004" cy="329184"/>
          </a:xfrm>
          <a:prstGeom prst="rect">
            <a:avLst/>
          </a:prstGeom>
          <a:solidFill>
            <a:srgbClr val="FFB547"/>
          </a:solidFill>
          <a:ln>
            <a:noFill/>
          </a:ln>
        </p:spPr>
      </p:sp>
      <p:sp>
        <p:nvSpPr>
          <p:cNvPr id="32" name="TextBox 33"/>
          <p:cNvSpPr txBox="1"/>
          <p:nvPr/>
        </p:nvSpPr>
        <p:spPr>
          <a:xfrm>
            <a:off x="8339328" y="3968496"/>
            <a:ext cx="2542032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F4F8FB"/>
                </a:solidFill>
                <a:latin typeface="Aptos"/>
              </a:rPr>
              <a:t>Start-time shift between</a:t>
            </a:r>
            <a:endParaRPr lang="en-US" sz="1300">
              <a:solidFill>
                <a:srgbClr val="F4F8FB"/>
              </a:solidFill>
              <a:latin typeface="Aptos"/>
            </a:endParaRPr>
          </a:p>
          <a:p>
            <a:pPr algn="ctr"/>
            <a:r>
              <a:rPr lang="en-US" sz="1300" b="1">
                <a:solidFill>
                  <a:srgbClr val="F4F8FB"/>
                </a:solidFill>
                <a:latin typeface="Aptos"/>
              </a:rPr>
              <a:t>neighbouring signals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33" name="TextBox 34"/>
          <p:cNvSpPr txBox="1"/>
          <p:nvPr/>
        </p:nvSpPr>
        <p:spPr>
          <a:xfrm>
            <a:off x="8247888" y="4956048"/>
            <a:ext cx="270662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Align greens with arriving platoons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4" name="Shape 35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5" name="TextBox 36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Source: FHWA Traffic Detector Handbook and FHWA SCOOT overview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36" name="TextBox 37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AI LAYER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Predictive control: act before the queue forms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10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7" name="Shape 8"/>
          <p:cNvSpPr/>
          <p:nvPr/>
        </p:nvSpPr>
        <p:spPr>
          <a:xfrm>
            <a:off x="594360" y="1325880"/>
            <a:ext cx="7498080" cy="452628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8" name="Shape 9"/>
          <p:cNvSpPr/>
          <p:nvPr/>
        </p:nvSpPr>
        <p:spPr>
          <a:xfrm>
            <a:off x="1078992" y="5074920"/>
            <a:ext cx="6355080" cy="22860"/>
          </a:xfrm>
          <a:prstGeom prst="rect">
            <a:avLst/>
          </a:prstGeom>
          <a:solidFill>
            <a:srgbClr val="6F8798"/>
          </a:solidFill>
          <a:ln>
            <a:noFill/>
          </a:ln>
        </p:spPr>
      </p:sp>
      <p:sp>
        <p:nvSpPr>
          <p:cNvPr id="9" name="Shape 10"/>
          <p:cNvSpPr/>
          <p:nvPr/>
        </p:nvSpPr>
        <p:spPr>
          <a:xfrm>
            <a:off x="1078992" y="1828800"/>
            <a:ext cx="22860" cy="3246120"/>
          </a:xfrm>
          <a:prstGeom prst="rect">
            <a:avLst/>
          </a:prstGeom>
          <a:solidFill>
            <a:srgbClr val="6F8798"/>
          </a:solidFill>
          <a:ln>
            <a:noFill/>
          </a:ln>
        </p:spPr>
      </p:sp>
      <p:sp>
        <p:nvSpPr>
          <p:cNvPr id="10" name="Shape 11"/>
          <p:cNvSpPr/>
          <p:nvPr/>
        </p:nvSpPr>
        <p:spPr>
          <a:xfrm>
            <a:off x="1307592" y="4754880"/>
            <a:ext cx="301752" cy="256032"/>
          </a:xfrm>
          <a:prstGeom prst="roundRect">
            <a:avLst/>
          </a:prstGeom>
          <a:solidFill>
            <a:srgbClr val="4EA1FF">
              <a:alpha val="65000"/>
            </a:srgbClr>
          </a:solidFill>
          <a:ln>
            <a:noFill/>
          </a:ln>
        </p:spPr>
      </p:sp>
      <p:sp>
        <p:nvSpPr>
          <p:cNvPr id="11" name="Shape 12"/>
          <p:cNvSpPr/>
          <p:nvPr/>
        </p:nvSpPr>
        <p:spPr>
          <a:xfrm>
            <a:off x="1783080" y="4690872"/>
            <a:ext cx="301752" cy="320040"/>
          </a:xfrm>
          <a:prstGeom prst="roundRect">
            <a:avLst/>
          </a:prstGeom>
          <a:solidFill>
            <a:srgbClr val="4EA1FF">
              <a:alpha val="65000"/>
            </a:srgbClr>
          </a:solidFill>
          <a:ln>
            <a:noFill/>
          </a:ln>
        </p:spPr>
      </p:sp>
      <p:sp>
        <p:nvSpPr>
          <p:cNvPr id="12" name="Shape 13"/>
          <p:cNvSpPr/>
          <p:nvPr/>
        </p:nvSpPr>
        <p:spPr>
          <a:xfrm>
            <a:off x="2258568" y="4572000"/>
            <a:ext cx="301752" cy="438912"/>
          </a:xfrm>
          <a:prstGeom prst="roundRect">
            <a:avLst/>
          </a:prstGeom>
          <a:solidFill>
            <a:srgbClr val="4EA1FF">
              <a:alpha val="65000"/>
            </a:srgbClr>
          </a:solidFill>
          <a:ln>
            <a:noFill/>
          </a:ln>
        </p:spPr>
      </p:sp>
      <p:sp>
        <p:nvSpPr>
          <p:cNvPr id="13" name="Shape 14"/>
          <p:cNvSpPr/>
          <p:nvPr/>
        </p:nvSpPr>
        <p:spPr>
          <a:xfrm>
            <a:off x="2734056" y="4443984"/>
            <a:ext cx="301752" cy="566928"/>
          </a:xfrm>
          <a:prstGeom prst="roundRect">
            <a:avLst/>
          </a:prstGeom>
          <a:solidFill>
            <a:srgbClr val="4EA1FF">
              <a:alpha val="65000"/>
            </a:srgbClr>
          </a:solidFill>
          <a:ln>
            <a:noFill/>
          </a:ln>
        </p:spPr>
      </p:sp>
      <p:sp>
        <p:nvSpPr>
          <p:cNvPr id="14" name="Shape 15"/>
          <p:cNvSpPr/>
          <p:nvPr/>
        </p:nvSpPr>
        <p:spPr>
          <a:xfrm>
            <a:off x="3209544" y="4242816"/>
            <a:ext cx="301752" cy="768096"/>
          </a:xfrm>
          <a:prstGeom prst="roundRect">
            <a:avLst/>
          </a:prstGeom>
          <a:solidFill>
            <a:srgbClr val="B7F34A">
              <a:alpha val="92000"/>
            </a:srgbClr>
          </a:solidFill>
          <a:ln>
            <a:noFill/>
          </a:ln>
        </p:spPr>
      </p:sp>
      <p:sp>
        <p:nvSpPr>
          <p:cNvPr id="15" name="Shape 16"/>
          <p:cNvSpPr/>
          <p:nvPr/>
        </p:nvSpPr>
        <p:spPr>
          <a:xfrm>
            <a:off x="3685032" y="3776472"/>
            <a:ext cx="301752" cy="1234440"/>
          </a:xfrm>
          <a:prstGeom prst="roundRect">
            <a:avLst/>
          </a:prstGeom>
          <a:solidFill>
            <a:srgbClr val="B7F34A">
              <a:alpha val="92000"/>
            </a:srgbClr>
          </a:solidFill>
          <a:ln>
            <a:noFill/>
          </a:ln>
        </p:spPr>
      </p:sp>
      <p:sp>
        <p:nvSpPr>
          <p:cNvPr id="16" name="Shape 17"/>
          <p:cNvSpPr/>
          <p:nvPr/>
        </p:nvSpPr>
        <p:spPr>
          <a:xfrm>
            <a:off x="4160520" y="3182112"/>
            <a:ext cx="301752" cy="1828800"/>
          </a:xfrm>
          <a:prstGeom prst="roundRect">
            <a:avLst/>
          </a:prstGeom>
          <a:solidFill>
            <a:srgbClr val="B7F34A">
              <a:alpha val="92000"/>
            </a:srgbClr>
          </a:solidFill>
          <a:ln>
            <a:noFill/>
          </a:ln>
        </p:spPr>
      </p:sp>
      <p:sp>
        <p:nvSpPr>
          <p:cNvPr id="17" name="Shape 18"/>
          <p:cNvSpPr/>
          <p:nvPr/>
        </p:nvSpPr>
        <p:spPr>
          <a:xfrm>
            <a:off x="4636008" y="2542032"/>
            <a:ext cx="301752" cy="2468880"/>
          </a:xfrm>
          <a:prstGeom prst="roundRect">
            <a:avLst/>
          </a:prstGeom>
          <a:solidFill>
            <a:srgbClr val="B7F34A">
              <a:alpha val="92000"/>
            </a:srgbClr>
          </a:solidFill>
          <a:ln>
            <a:noFill/>
          </a:ln>
        </p:spPr>
      </p:sp>
      <p:sp>
        <p:nvSpPr>
          <p:cNvPr id="18" name="Shape 19"/>
          <p:cNvSpPr/>
          <p:nvPr/>
        </p:nvSpPr>
        <p:spPr>
          <a:xfrm>
            <a:off x="5111496" y="2862072"/>
            <a:ext cx="301752" cy="2148840"/>
          </a:xfrm>
          <a:prstGeom prst="roundRect">
            <a:avLst/>
          </a:prstGeom>
          <a:solidFill>
            <a:srgbClr val="B7F34A">
              <a:alpha val="92000"/>
            </a:srgbClr>
          </a:solidFill>
          <a:ln>
            <a:noFill/>
          </a:ln>
        </p:spPr>
      </p:sp>
      <p:sp>
        <p:nvSpPr>
          <p:cNvPr id="19" name="Shape 20"/>
          <p:cNvSpPr/>
          <p:nvPr/>
        </p:nvSpPr>
        <p:spPr>
          <a:xfrm>
            <a:off x="5586984" y="3456432"/>
            <a:ext cx="301752" cy="1554480"/>
          </a:xfrm>
          <a:prstGeom prst="roundRect">
            <a:avLst/>
          </a:prstGeom>
          <a:solidFill>
            <a:srgbClr val="19D3B3">
              <a:alpha val="92000"/>
            </a:srgbClr>
          </a:solidFill>
          <a:ln>
            <a:noFill/>
          </a:ln>
        </p:spPr>
      </p:sp>
      <p:sp>
        <p:nvSpPr>
          <p:cNvPr id="20" name="Shape 21"/>
          <p:cNvSpPr/>
          <p:nvPr/>
        </p:nvSpPr>
        <p:spPr>
          <a:xfrm>
            <a:off x="6062472" y="3959352"/>
            <a:ext cx="301752" cy="1051560"/>
          </a:xfrm>
          <a:prstGeom prst="roundRect">
            <a:avLst/>
          </a:prstGeom>
          <a:solidFill>
            <a:srgbClr val="19D3B3">
              <a:alpha val="92000"/>
            </a:srgbClr>
          </a:solidFill>
          <a:ln>
            <a:noFill/>
          </a:ln>
        </p:spPr>
      </p:sp>
      <p:sp>
        <p:nvSpPr>
          <p:cNvPr id="21" name="Shape 22"/>
          <p:cNvSpPr/>
          <p:nvPr/>
        </p:nvSpPr>
        <p:spPr>
          <a:xfrm>
            <a:off x="6537960" y="4297680"/>
            <a:ext cx="301752" cy="713232"/>
          </a:xfrm>
          <a:prstGeom prst="roundRect">
            <a:avLst/>
          </a:prstGeom>
          <a:solidFill>
            <a:srgbClr val="19D3B3">
              <a:alpha val="92000"/>
            </a:srgbClr>
          </a:solidFill>
          <a:ln>
            <a:noFill/>
          </a:ln>
        </p:spPr>
      </p:sp>
      <p:sp>
        <p:nvSpPr>
          <p:cNvPr id="22" name="Shape 23"/>
          <p:cNvSpPr/>
          <p:nvPr/>
        </p:nvSpPr>
        <p:spPr>
          <a:xfrm>
            <a:off x="3154680" y="1737360"/>
            <a:ext cx="22860" cy="3364992"/>
          </a:xfrm>
          <a:prstGeom prst="rect">
            <a:avLst/>
          </a:prstGeom>
          <a:solidFill>
            <a:srgbClr val="F4F8FB">
              <a:alpha val="45000"/>
            </a:srgbClr>
          </a:solidFill>
          <a:ln>
            <a:noFill/>
          </a:ln>
        </p:spPr>
      </p:sp>
      <p:sp>
        <p:nvSpPr>
          <p:cNvPr id="23" name="TextBox 24"/>
          <p:cNvSpPr txBox="1"/>
          <p:nvPr/>
        </p:nvSpPr>
        <p:spPr>
          <a:xfrm>
            <a:off x="2798064" y="52760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4F8FB"/>
                </a:solidFill>
                <a:latin typeface="Aptos"/>
              </a:rPr>
              <a:t>NOW</a:t>
            </a:r>
            <a:endParaRPr lang="en-US" sz="9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4" name="TextBox 25"/>
          <p:cNvSpPr txBox="1"/>
          <p:nvPr/>
        </p:nvSpPr>
        <p:spPr>
          <a:xfrm>
            <a:off x="6190488" y="527608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B7F34A"/>
                </a:solidFill>
                <a:latin typeface="Aptos"/>
              </a:rPr>
              <a:t>+30 min</a:t>
            </a:r>
            <a:endParaRPr lang="en-US" sz="9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25" name="TextBox 26"/>
          <p:cNvSpPr txBox="1"/>
          <p:nvPr/>
        </p:nvSpPr>
        <p:spPr>
          <a:xfrm>
            <a:off x="4251960" y="195681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>
                <a:solidFill>
                  <a:srgbClr val="B7F34A"/>
                </a:solidFill>
                <a:latin typeface="Aptos"/>
              </a:rPr>
              <a:t>Predicted demand</a:t>
            </a:r>
            <a:endParaRPr lang="en-US" sz="11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26" name="TextBox 27"/>
          <p:cNvSpPr txBox="1"/>
          <p:nvPr/>
        </p:nvSpPr>
        <p:spPr>
          <a:xfrm>
            <a:off x="4617720" y="2788920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>
                <a:solidFill>
                  <a:srgbClr val="F4F8FB"/>
                </a:solidFill>
                <a:latin typeface="Aptos"/>
              </a:rPr>
              <a:t>Pre-position green</a:t>
            </a:r>
            <a:endParaRPr lang="en-US" sz="1400">
              <a:solidFill>
                <a:srgbClr val="F4F8FB"/>
              </a:solidFill>
              <a:latin typeface="Aptos"/>
            </a:endParaRPr>
          </a:p>
          <a:p>
            <a:pPr algn="ctr"/>
            <a:r>
              <a:rPr lang="en-US" sz="1400" b="1">
                <a:solidFill>
                  <a:srgbClr val="F4F8FB"/>
                </a:solidFill>
                <a:latin typeface="Aptos"/>
              </a:rPr>
              <a:t>before spillback</a:t>
            </a:r>
            <a:endParaRPr lang="en-US" sz="14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7" name="Shape 28"/>
          <p:cNvSpPr/>
          <p:nvPr/>
        </p:nvSpPr>
        <p:spPr>
          <a:xfrm>
            <a:off x="5577840" y="3685032"/>
            <a:ext cx="36576" cy="868680"/>
          </a:xfrm>
          <a:prstGeom prst="rect">
            <a:avLst/>
          </a:prstGeom>
          <a:solidFill>
            <a:srgbClr val="FFB547"/>
          </a:solidFill>
          <a:ln>
            <a:noFill/>
          </a:ln>
        </p:spPr>
      </p:sp>
      <p:sp>
        <p:nvSpPr>
          <p:cNvPr id="28" name="TextBox 29"/>
          <p:cNvSpPr txBox="1"/>
          <p:nvPr/>
        </p:nvSpPr>
        <p:spPr>
          <a:xfrm>
            <a:off x="6446520" y="391363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B547"/>
                </a:solidFill>
                <a:latin typeface="Aptos"/>
              </a:rPr>
              <a:t>ANOMALY</a:t>
            </a:r>
            <a:endParaRPr lang="en-US" sz="900">
              <a:solidFill>
                <a:srgbClr val="FFB547"/>
              </a:solidFill>
              <a:latin typeface="Aptos"/>
            </a:endParaRPr>
          </a:p>
        </p:txBody>
      </p:sp>
      <p:pic>
        <p:nvPicPr>
          <p:cNvPr id="29" name="Picture 30"/>
          <p:cNvPicPr>
            <a:picLocks noChangeAspect="1"/>
          </p:cNvPicPr>
          <p:nvPr/>
        </p:nvPicPr>
        <p:blipFill>
          <a:blip r:embed="rId2"/>
          <a:srcRect l="13298" t="0" r="13298" b="0"/>
          <a:stretch>
            <a:fillRect/>
          </a:stretch>
        </p:blipFill>
        <p:spPr>
          <a:xfrm>
            <a:off x="8430768" y="1325880"/>
            <a:ext cx="3154680" cy="2148840"/>
          </a:xfrm>
          <a:prstGeom prst="rect">
            <a:avLst/>
          </a:prstGeom>
          <a:ln>
            <a:noFill/>
          </a:ln>
        </p:spPr>
      </p:pic>
      <p:sp>
        <p:nvSpPr>
          <p:cNvPr id="30" name="Shape 31"/>
          <p:cNvSpPr/>
          <p:nvPr/>
        </p:nvSpPr>
        <p:spPr>
          <a:xfrm>
            <a:off x="8430768" y="1325880"/>
            <a:ext cx="3154680" cy="2148840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sp>
        <p:nvSpPr>
          <p:cNvPr id="31" name="Shape 32"/>
          <p:cNvSpPr/>
          <p:nvPr/>
        </p:nvSpPr>
        <p:spPr>
          <a:xfrm>
            <a:off x="8430768" y="3703320"/>
            <a:ext cx="3154680" cy="932688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32" name="Shape 33"/>
          <p:cNvSpPr/>
          <p:nvPr/>
        </p:nvSpPr>
        <p:spPr>
          <a:xfrm>
            <a:off x="8430768" y="3703320"/>
            <a:ext cx="54864" cy="932688"/>
          </a:xfrm>
          <a:prstGeom prst="roundRect">
            <a:avLst/>
          </a:prstGeom>
          <a:solidFill>
            <a:srgbClr val="4EA1FF"/>
          </a:solidFill>
          <a:ln>
            <a:noFill/>
          </a:ln>
        </p:spPr>
      </p:sp>
      <p:sp>
        <p:nvSpPr>
          <p:cNvPr id="33" name="TextBox 34"/>
          <p:cNvSpPr txBox="1"/>
          <p:nvPr/>
        </p:nvSpPr>
        <p:spPr>
          <a:xfrm>
            <a:off x="8631936" y="3840480"/>
            <a:ext cx="280720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REACTIVE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34" name="TextBox 35"/>
          <p:cNvSpPr txBox="1"/>
          <p:nvPr/>
        </p:nvSpPr>
        <p:spPr>
          <a:xfrm>
            <a:off x="8631936" y="4206240"/>
            <a:ext cx="28072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Respond after queues are measured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5" name="Shape 36"/>
          <p:cNvSpPr/>
          <p:nvPr/>
        </p:nvSpPr>
        <p:spPr>
          <a:xfrm>
            <a:off x="8430768" y="4818888"/>
            <a:ext cx="3154680" cy="932688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36" name="Shape 37"/>
          <p:cNvSpPr/>
          <p:nvPr/>
        </p:nvSpPr>
        <p:spPr>
          <a:xfrm>
            <a:off x="8430768" y="4818888"/>
            <a:ext cx="54864" cy="932688"/>
          </a:xfrm>
          <a:prstGeom prst="roundRect">
            <a:avLst/>
          </a:prstGeom>
          <a:solidFill>
            <a:srgbClr val="B7F34A"/>
          </a:solidFill>
          <a:ln>
            <a:noFill/>
          </a:ln>
        </p:spPr>
      </p:sp>
      <p:sp>
        <p:nvSpPr>
          <p:cNvPr id="37" name="TextBox 38"/>
          <p:cNvSpPr txBox="1"/>
          <p:nvPr/>
        </p:nvSpPr>
        <p:spPr>
          <a:xfrm>
            <a:off x="8631936" y="4956048"/>
            <a:ext cx="280720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PREDICTIVE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38" name="TextBox 39"/>
          <p:cNvSpPr txBox="1"/>
          <p:nvPr/>
        </p:nvSpPr>
        <p:spPr>
          <a:xfrm>
            <a:off x="8631936" y="5321808"/>
            <a:ext cx="28072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Respond to likely future demand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9" name="Shape 40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40" name="TextBox 41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Source: TRL Software SCOOT 8 AI announcement (forecast horizon and anomaly detection claims)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41" name="TextBox 42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CONTROL LOGIC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A closed loop that learns every cycle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11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7" name="Shape 8"/>
          <p:cNvSpPr/>
          <p:nvPr/>
        </p:nvSpPr>
        <p:spPr>
          <a:xfrm>
            <a:off x="4956048" y="2359152"/>
            <a:ext cx="2286000" cy="2286000"/>
          </a:xfrm>
          <a:prstGeom prst="ellipse">
            <a:avLst/>
          </a:prstGeom>
          <a:solidFill>
            <a:srgbClr val="143244"/>
          </a:solidFill>
          <a:ln w="25400">
            <a:solidFill>
              <a:srgbClr val="19D3B3"/>
            </a:solidFill>
            <a:prstDash val="solid"/>
          </a:ln>
        </p:spPr>
      </p:sp>
      <p:sp>
        <p:nvSpPr>
          <p:cNvPr id="8" name="TextBox 9"/>
          <p:cNvSpPr txBox="1"/>
          <p:nvPr/>
        </p:nvSpPr>
        <p:spPr>
          <a:xfrm>
            <a:off x="4956048" y="2359152"/>
            <a:ext cx="2286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500" b="1">
                <a:solidFill>
                  <a:srgbClr val="F4F8FB"/>
                </a:solidFill>
                <a:latin typeface="Aptos"/>
              </a:rPr>
              <a:t>SCOOT</a:t>
            </a:r>
            <a:endParaRPr lang="en-US" sz="2500">
              <a:solidFill>
                <a:srgbClr val="F4F8FB"/>
              </a:solidFill>
              <a:latin typeface="Aptos"/>
            </a:endParaRPr>
          </a:p>
          <a:p>
            <a:pPr algn="ctr"/>
            <a:r>
              <a:rPr lang="en-US" sz="2500" b="1">
                <a:solidFill>
                  <a:srgbClr val="F4F8FB"/>
                </a:solidFill>
                <a:latin typeface="Aptos"/>
              </a:rPr>
              <a:t>8 AI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9" name="Shape 10"/>
          <p:cNvSpPr/>
          <p:nvPr/>
        </p:nvSpPr>
        <p:spPr>
          <a:xfrm>
            <a:off x="914400" y="1572768"/>
            <a:ext cx="969264" cy="969264"/>
          </a:xfrm>
          <a:prstGeom prst="ellipse">
            <a:avLst/>
          </a:prstGeom>
          <a:solidFill>
            <a:srgbClr val="4EA1FF"/>
          </a:solidFill>
          <a:ln>
            <a:noFill/>
          </a:ln>
        </p:spPr>
      </p:sp>
      <p:sp>
        <p:nvSpPr>
          <p:cNvPr id="10" name="TextBox 11"/>
          <p:cNvSpPr txBox="1"/>
          <p:nvPr/>
        </p:nvSpPr>
        <p:spPr>
          <a:xfrm>
            <a:off x="768096" y="2651760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50" b="1">
                <a:solidFill>
                  <a:srgbClr val="4EA1FF"/>
                </a:solidFill>
                <a:latin typeface="Aptos"/>
              </a:rPr>
              <a:t>OBSERVE</a:t>
            </a:r>
            <a:endParaRPr lang="en-US" sz="1050">
              <a:solidFill>
                <a:srgbClr val="4EA1FF"/>
              </a:solidFill>
              <a:latin typeface="Aptos"/>
            </a:endParaRPr>
          </a:p>
        </p:txBody>
      </p:sp>
      <p:sp>
        <p:nvSpPr>
          <p:cNvPr id="11" name="Shape 12"/>
          <p:cNvSpPr/>
          <p:nvPr/>
        </p:nvSpPr>
        <p:spPr>
          <a:xfrm>
            <a:off x="2743200" y="4864608"/>
            <a:ext cx="969264" cy="969264"/>
          </a:xfrm>
          <a:prstGeom prst="ellipse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12" name="TextBox 13"/>
          <p:cNvSpPr txBox="1"/>
          <p:nvPr/>
        </p:nvSpPr>
        <p:spPr>
          <a:xfrm>
            <a:off x="2596896" y="5943600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50" b="1">
                <a:solidFill>
                  <a:srgbClr val="19D3B3"/>
                </a:solidFill>
                <a:latin typeface="Aptos"/>
              </a:rPr>
              <a:t>ESTIMATE</a:t>
            </a:r>
            <a:endParaRPr lang="en-US" sz="1050">
              <a:solidFill>
                <a:srgbClr val="19D3B3"/>
              </a:solidFill>
              <a:latin typeface="Aptos"/>
            </a:endParaRPr>
          </a:p>
        </p:txBody>
      </p:sp>
      <p:sp>
        <p:nvSpPr>
          <p:cNvPr id="13" name="Shape 14"/>
          <p:cNvSpPr/>
          <p:nvPr/>
        </p:nvSpPr>
        <p:spPr>
          <a:xfrm>
            <a:off x="5559552" y="5230368"/>
            <a:ext cx="969264" cy="96926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4" name="TextBox 15"/>
          <p:cNvSpPr txBox="1"/>
          <p:nvPr/>
        </p:nvSpPr>
        <p:spPr>
          <a:xfrm>
            <a:off x="5413248" y="6309360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50" b="1">
                <a:solidFill>
                  <a:srgbClr val="A78BFA"/>
                </a:solidFill>
                <a:latin typeface="Aptos"/>
              </a:rPr>
              <a:t>FORECAST</a:t>
            </a:r>
            <a:endParaRPr lang="en-US" sz="1050">
              <a:solidFill>
                <a:srgbClr val="A78BFA"/>
              </a:solidFill>
              <a:latin typeface="Aptos"/>
            </a:endParaRPr>
          </a:p>
        </p:txBody>
      </p:sp>
      <p:sp>
        <p:nvSpPr>
          <p:cNvPr id="15" name="Shape 16"/>
          <p:cNvSpPr/>
          <p:nvPr/>
        </p:nvSpPr>
        <p:spPr>
          <a:xfrm>
            <a:off x="8732520" y="4736592"/>
            <a:ext cx="969264" cy="969264"/>
          </a:xfrm>
          <a:prstGeom prst="ellipse">
            <a:avLst/>
          </a:prstGeom>
          <a:solidFill>
            <a:srgbClr val="FFB547"/>
          </a:solidFill>
          <a:ln>
            <a:noFill/>
          </a:ln>
        </p:spPr>
      </p:sp>
      <p:sp>
        <p:nvSpPr>
          <p:cNvPr id="16" name="TextBox 17"/>
          <p:cNvSpPr txBox="1"/>
          <p:nvPr/>
        </p:nvSpPr>
        <p:spPr>
          <a:xfrm>
            <a:off x="8586216" y="5815584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50" b="1">
                <a:solidFill>
                  <a:srgbClr val="FFB547"/>
                </a:solidFill>
                <a:latin typeface="Aptos"/>
              </a:rPr>
              <a:t>TEST</a:t>
            </a:r>
            <a:endParaRPr lang="en-US" sz="1050">
              <a:solidFill>
                <a:srgbClr val="FFB547"/>
              </a:solidFill>
              <a:latin typeface="Aptos"/>
            </a:endParaRPr>
          </a:p>
        </p:txBody>
      </p:sp>
      <p:sp>
        <p:nvSpPr>
          <p:cNvPr id="17" name="Shape 18"/>
          <p:cNvSpPr/>
          <p:nvPr/>
        </p:nvSpPr>
        <p:spPr>
          <a:xfrm>
            <a:off x="9555480" y="1627632"/>
            <a:ext cx="969264" cy="969264"/>
          </a:xfrm>
          <a:prstGeom prst="ellipse">
            <a:avLst/>
          </a:prstGeom>
          <a:solidFill>
            <a:srgbClr val="FF667A"/>
          </a:solidFill>
          <a:ln>
            <a:noFill/>
          </a:ln>
        </p:spPr>
      </p:sp>
      <p:sp>
        <p:nvSpPr>
          <p:cNvPr id="18" name="TextBox 19"/>
          <p:cNvSpPr txBox="1"/>
          <p:nvPr/>
        </p:nvSpPr>
        <p:spPr>
          <a:xfrm>
            <a:off x="9409176" y="2706624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50" b="1">
                <a:solidFill>
                  <a:srgbClr val="FF667A"/>
                </a:solidFill>
                <a:latin typeface="Aptos"/>
              </a:rPr>
              <a:t>ACT</a:t>
            </a:r>
            <a:endParaRPr lang="en-US" sz="1050">
              <a:solidFill>
                <a:srgbClr val="FF667A"/>
              </a:solidFill>
              <a:latin typeface="Aptos"/>
            </a:endParaRPr>
          </a:p>
        </p:txBody>
      </p:sp>
      <p:sp>
        <p:nvSpPr>
          <p:cNvPr id="19" name="Shape 20"/>
          <p:cNvSpPr/>
          <p:nvPr/>
        </p:nvSpPr>
        <p:spPr>
          <a:xfrm>
            <a:off x="5577840" y="1188720"/>
            <a:ext cx="969264" cy="969264"/>
          </a:xfrm>
          <a:prstGeom prst="ellipse">
            <a:avLst/>
          </a:prstGeom>
          <a:solidFill>
            <a:srgbClr val="B7F34A"/>
          </a:solidFill>
          <a:ln>
            <a:noFill/>
          </a:ln>
        </p:spPr>
      </p:sp>
      <p:sp>
        <p:nvSpPr>
          <p:cNvPr id="20" name="TextBox 21"/>
          <p:cNvSpPr txBox="1"/>
          <p:nvPr/>
        </p:nvSpPr>
        <p:spPr>
          <a:xfrm>
            <a:off x="5431536" y="2267712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50" b="1">
                <a:solidFill>
                  <a:srgbClr val="B7F34A"/>
                </a:solidFill>
                <a:latin typeface="Aptos"/>
              </a:rPr>
              <a:t>MEASURE</a:t>
            </a:r>
            <a:endParaRPr lang="en-US" sz="1050">
              <a:solidFill>
                <a:srgbClr val="B7F34A"/>
              </a:solidFill>
              <a:latin typeface="Aptos"/>
            </a:endParaRPr>
          </a:p>
        </p:txBody>
      </p:sp>
      <p:sp>
        <p:nvSpPr>
          <p:cNvPr id="21" name="Shape 22"/>
          <p:cNvSpPr/>
          <p:nvPr/>
        </p:nvSpPr>
        <p:spPr>
          <a:xfrm>
            <a:off x="1938528" y="1938528"/>
            <a:ext cx="914400" cy="54864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2" name="Shape 23"/>
          <p:cNvSpPr/>
          <p:nvPr/>
        </p:nvSpPr>
        <p:spPr>
          <a:xfrm>
            <a:off x="2743200" y="1865376"/>
            <a:ext cx="164592" cy="201168"/>
          </a:xfrm>
          <a:prstGeom prst="chevron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3" name="Shape 24"/>
          <p:cNvSpPr/>
          <p:nvPr/>
        </p:nvSpPr>
        <p:spPr>
          <a:xfrm>
            <a:off x="3794760" y="5074920"/>
            <a:ext cx="960120" cy="54864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4" name="Shape 25"/>
          <p:cNvSpPr/>
          <p:nvPr/>
        </p:nvSpPr>
        <p:spPr>
          <a:xfrm>
            <a:off x="4645152" y="5001768"/>
            <a:ext cx="164592" cy="201168"/>
          </a:xfrm>
          <a:prstGeom prst="chevron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5" name="Shape 26"/>
          <p:cNvSpPr/>
          <p:nvPr/>
        </p:nvSpPr>
        <p:spPr>
          <a:xfrm>
            <a:off x="6720840" y="5102352"/>
            <a:ext cx="1143000" cy="54864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6" name="Shape 27"/>
          <p:cNvSpPr/>
          <p:nvPr/>
        </p:nvSpPr>
        <p:spPr>
          <a:xfrm>
            <a:off x="7754112" y="5029200"/>
            <a:ext cx="164592" cy="201168"/>
          </a:xfrm>
          <a:prstGeom prst="chevron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7" name="Shape 28"/>
          <p:cNvSpPr/>
          <p:nvPr/>
        </p:nvSpPr>
        <p:spPr>
          <a:xfrm>
            <a:off x="8869680" y="4251960"/>
            <a:ext cx="713232" cy="54864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8" name="Shape 29"/>
          <p:cNvSpPr/>
          <p:nvPr/>
        </p:nvSpPr>
        <p:spPr>
          <a:xfrm>
            <a:off x="9473184" y="4178808"/>
            <a:ext cx="164592" cy="201168"/>
          </a:xfrm>
          <a:prstGeom prst="chevron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9" name="Shape 30"/>
          <p:cNvSpPr/>
          <p:nvPr/>
        </p:nvSpPr>
        <p:spPr>
          <a:xfrm>
            <a:off x="8641080" y="1920240"/>
            <a:ext cx="749808" cy="54864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0" name="Shape 31"/>
          <p:cNvSpPr/>
          <p:nvPr/>
        </p:nvSpPr>
        <p:spPr>
          <a:xfrm>
            <a:off x="9281160" y="1847088"/>
            <a:ext cx="164592" cy="201168"/>
          </a:xfrm>
          <a:prstGeom prst="chevron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1" name="Shape 32"/>
          <p:cNvSpPr/>
          <p:nvPr/>
        </p:nvSpPr>
        <p:spPr>
          <a:xfrm>
            <a:off x="6675120" y="1481328"/>
            <a:ext cx="1554480" cy="54864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2" name="Shape 33"/>
          <p:cNvSpPr/>
          <p:nvPr/>
        </p:nvSpPr>
        <p:spPr>
          <a:xfrm>
            <a:off x="8119872" y="1408176"/>
            <a:ext cx="164592" cy="201168"/>
          </a:xfrm>
          <a:prstGeom prst="chevron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3" name="TextBox 34"/>
          <p:cNvSpPr txBox="1"/>
          <p:nvPr/>
        </p:nvSpPr>
        <p:spPr>
          <a:xfrm>
            <a:off x="5166360" y="2816352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9DB3C2"/>
                </a:solidFill>
                <a:latin typeface="Aptos"/>
              </a:rPr>
              <a:t>Objective</a:t>
            </a:r>
            <a:endParaRPr lang="en-US" sz="9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4" name="TextBox 35"/>
          <p:cNvSpPr txBox="1"/>
          <p:nvPr/>
        </p:nvSpPr>
        <p:spPr>
          <a:xfrm>
            <a:off x="5184648" y="3163824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F4F8FB"/>
                </a:solidFill>
                <a:latin typeface="Aptos"/>
              </a:rPr>
              <a:t>minimise delay + stops</a:t>
            </a:r>
            <a:endParaRPr lang="en-US" sz="1200">
              <a:solidFill>
                <a:srgbClr val="F4F8FB"/>
              </a:solidFill>
              <a:latin typeface="Aptos"/>
            </a:endParaRPr>
          </a:p>
          <a:p>
            <a:pPr algn="ctr"/>
            <a:r>
              <a:rPr lang="en-US" sz="1200" b="1">
                <a:solidFill>
                  <a:srgbClr val="F4F8FB"/>
                </a:solidFill>
                <a:latin typeface="Aptos"/>
              </a:rPr>
              <a:t>within safety constraints</a:t>
            </a:r>
            <a:endParaRPr lang="en-US" sz="12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35" name="TextBox 36"/>
          <p:cNvSpPr txBox="1"/>
          <p:nvPr/>
        </p:nvSpPr>
        <p:spPr>
          <a:xfrm>
            <a:off x="3154680" y="6007608"/>
            <a:ext cx="58978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19D3B3"/>
                </a:solidFill>
                <a:latin typeface="Aptos"/>
              </a:rPr>
              <a:t>Small changes • frequent checks • operator visibility</a:t>
            </a:r>
            <a:endParaRPr lang="en-US" sz="12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36" name="Shape 37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7" name="TextBox 38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Conceptual loop synthesized from FHWA SCOOT descriptions and TRL SCOOT 8 material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38" name="TextBox 39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MULTIMODAL CONTROL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One network, many road users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12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7" name="Shape 8"/>
          <p:cNvSpPr/>
          <p:nvPr/>
        </p:nvSpPr>
        <p:spPr>
          <a:xfrm>
            <a:off x="566928" y="1307592"/>
            <a:ext cx="2514600" cy="347472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4EA1FF"/>
            </a:solidFill>
            <a:prstDash val="solid"/>
          </a:ln>
        </p:spPr>
      </p:sp>
      <p:pic>
        <p:nvPicPr>
          <p:cNvPr id="8" name="Picture 9"/>
          <p:cNvPicPr>
            <a:picLocks noChangeAspect="1"/>
          </p:cNvPicPr>
          <p:nvPr/>
        </p:nvPicPr>
        <p:blipFill>
          <a:blip r:embed="rId2"/>
          <a:srcRect l="0" t="24582" r="0" b="24582"/>
          <a:stretch>
            <a:fillRect/>
          </a:stretch>
        </p:blipFill>
        <p:spPr>
          <a:xfrm>
            <a:off x="731520" y="1508760"/>
            <a:ext cx="2185416" cy="1481328"/>
          </a:xfrm>
          <a:prstGeom prst="rect">
            <a:avLst/>
          </a:prstGeom>
          <a:ln>
            <a:noFill/>
          </a:ln>
        </p:spPr>
      </p:pic>
      <p:sp>
        <p:nvSpPr>
          <p:cNvPr id="9" name="Shape 10"/>
          <p:cNvSpPr/>
          <p:nvPr/>
        </p:nvSpPr>
        <p:spPr>
          <a:xfrm>
            <a:off x="731520" y="1508760"/>
            <a:ext cx="2185416" cy="1481328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sp>
        <p:nvSpPr>
          <p:cNvPr id="10" name="TextBox 11"/>
          <p:cNvSpPr txBox="1"/>
          <p:nvPr/>
        </p:nvSpPr>
        <p:spPr>
          <a:xfrm>
            <a:off x="749808" y="3246120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4EA1FF"/>
                </a:solidFill>
                <a:latin typeface="Aptos"/>
              </a:rPr>
              <a:t>BUS</a:t>
            </a:r>
            <a:endParaRPr lang="en-US" sz="1800">
              <a:solidFill>
                <a:srgbClr val="4EA1FF"/>
              </a:solidFill>
              <a:latin typeface="Aptos"/>
            </a:endParaRPr>
          </a:p>
        </p:txBody>
      </p:sp>
      <p:sp>
        <p:nvSpPr>
          <p:cNvPr id="11" name="TextBox 12"/>
          <p:cNvSpPr txBox="1"/>
          <p:nvPr/>
        </p:nvSpPr>
        <p:spPr>
          <a:xfrm>
            <a:off x="749808" y="374904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>
                <a:solidFill>
                  <a:srgbClr val="F4F8FB"/>
                </a:solidFill>
                <a:latin typeface="Aptos"/>
              </a:rPr>
              <a:t>reliability</a:t>
            </a:r>
            <a:endParaRPr lang="en-US" sz="11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2" name="Shape 13"/>
          <p:cNvSpPr/>
          <p:nvPr/>
        </p:nvSpPr>
        <p:spPr>
          <a:xfrm>
            <a:off x="3410712" y="1307592"/>
            <a:ext cx="2514600" cy="347472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9D3B3"/>
            </a:solidFill>
            <a:prstDash val="solid"/>
          </a:ln>
        </p:spPr>
      </p:sp>
      <p:pic>
        <p:nvPicPr>
          <p:cNvPr id="13" name="Picture 14"/>
          <p:cNvPicPr>
            <a:picLocks noChangeAspect="1"/>
          </p:cNvPicPr>
          <p:nvPr/>
        </p:nvPicPr>
        <p:blipFill>
          <a:blip r:embed="rId3"/>
          <a:srcRect l="0" t="8192" r="0" b="8192"/>
          <a:stretch>
            <a:fillRect/>
          </a:stretch>
        </p:blipFill>
        <p:spPr>
          <a:xfrm>
            <a:off x="3575304" y="1508760"/>
            <a:ext cx="2185416" cy="1481328"/>
          </a:xfrm>
          <a:prstGeom prst="rect">
            <a:avLst/>
          </a:prstGeom>
          <a:ln>
            <a:noFill/>
          </a:ln>
        </p:spPr>
      </p:pic>
      <p:sp>
        <p:nvSpPr>
          <p:cNvPr id="14" name="Shape 15"/>
          <p:cNvSpPr/>
          <p:nvPr/>
        </p:nvSpPr>
        <p:spPr>
          <a:xfrm>
            <a:off x="3575304" y="1508760"/>
            <a:ext cx="2185416" cy="1481328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sp>
        <p:nvSpPr>
          <p:cNvPr id="15" name="TextBox 16"/>
          <p:cNvSpPr txBox="1"/>
          <p:nvPr/>
        </p:nvSpPr>
        <p:spPr>
          <a:xfrm>
            <a:off x="3593592" y="3246120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19D3B3"/>
                </a:solidFill>
                <a:latin typeface="Aptos"/>
              </a:rPr>
              <a:t>WALK</a:t>
            </a:r>
            <a:endParaRPr lang="en-US" sz="18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16" name="TextBox 17"/>
          <p:cNvSpPr txBox="1"/>
          <p:nvPr/>
        </p:nvSpPr>
        <p:spPr>
          <a:xfrm>
            <a:off x="3593592" y="374904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>
                <a:solidFill>
                  <a:srgbClr val="F4F8FB"/>
                </a:solidFill>
                <a:latin typeface="Aptos"/>
              </a:rPr>
              <a:t>safe crossing</a:t>
            </a:r>
            <a:endParaRPr lang="en-US" sz="11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7" name="Shape 18"/>
          <p:cNvSpPr/>
          <p:nvPr/>
        </p:nvSpPr>
        <p:spPr>
          <a:xfrm>
            <a:off x="6254496" y="1307592"/>
            <a:ext cx="2514600" cy="347472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FFB547"/>
            </a:solidFill>
            <a:prstDash val="solid"/>
          </a:ln>
        </p:spPr>
      </p:sp>
      <p:pic>
        <p:nvPicPr>
          <p:cNvPr id="18" name="Picture 19"/>
          <p:cNvPicPr>
            <a:picLocks noChangeAspect="1"/>
          </p:cNvPicPr>
          <p:nvPr/>
        </p:nvPicPr>
        <p:blipFill>
          <a:blip r:embed="rId4"/>
          <a:srcRect l="0" t="4932" r="0" b="4932"/>
          <a:stretch>
            <a:fillRect/>
          </a:stretch>
        </p:blipFill>
        <p:spPr>
          <a:xfrm>
            <a:off x="6419088" y="1508760"/>
            <a:ext cx="2185416" cy="1481328"/>
          </a:xfrm>
          <a:prstGeom prst="rect">
            <a:avLst/>
          </a:prstGeom>
          <a:ln>
            <a:noFill/>
          </a:ln>
        </p:spPr>
      </p:pic>
      <p:sp>
        <p:nvSpPr>
          <p:cNvPr id="19" name="Shape 20"/>
          <p:cNvSpPr/>
          <p:nvPr/>
        </p:nvSpPr>
        <p:spPr>
          <a:xfrm>
            <a:off x="6419088" y="1508760"/>
            <a:ext cx="2185416" cy="1481328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sp>
        <p:nvSpPr>
          <p:cNvPr id="20" name="TextBox 21"/>
          <p:cNvSpPr txBox="1"/>
          <p:nvPr/>
        </p:nvSpPr>
        <p:spPr>
          <a:xfrm>
            <a:off x="6437376" y="3246120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FFB547"/>
                </a:solidFill>
                <a:latin typeface="Aptos"/>
              </a:rPr>
              <a:t>CYCLE</a:t>
            </a:r>
            <a:endParaRPr lang="en-US" sz="1800">
              <a:solidFill>
                <a:srgbClr val="FFB547"/>
              </a:solidFill>
              <a:latin typeface="Aptos"/>
            </a:endParaRPr>
          </a:p>
        </p:txBody>
      </p:sp>
      <p:sp>
        <p:nvSpPr>
          <p:cNvPr id="21" name="TextBox 22"/>
          <p:cNvSpPr txBox="1"/>
          <p:nvPr/>
        </p:nvSpPr>
        <p:spPr>
          <a:xfrm>
            <a:off x="6437376" y="374904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>
                <a:solidFill>
                  <a:srgbClr val="F4F8FB"/>
                </a:solidFill>
                <a:latin typeface="Aptos"/>
              </a:rPr>
              <a:t>progression</a:t>
            </a:r>
            <a:endParaRPr lang="en-US" sz="11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2" name="Shape 23"/>
          <p:cNvSpPr/>
          <p:nvPr/>
        </p:nvSpPr>
        <p:spPr>
          <a:xfrm>
            <a:off x="9098280" y="1307592"/>
            <a:ext cx="2514600" cy="347472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FF667A"/>
            </a:solidFill>
            <a:prstDash val="solid"/>
          </a:ln>
        </p:spPr>
      </p:sp>
      <p:pic>
        <p:nvPicPr>
          <p:cNvPr id="23" name="Picture 24"/>
          <p:cNvPicPr>
            <a:picLocks noChangeAspect="1"/>
          </p:cNvPicPr>
          <p:nvPr/>
        </p:nvPicPr>
        <p:blipFill>
          <a:blip r:embed="rId5"/>
          <a:srcRect l="13117" t="0" r="13117" b="0"/>
          <a:stretch>
            <a:fillRect/>
          </a:stretch>
        </p:blipFill>
        <p:spPr>
          <a:xfrm>
            <a:off x="9262872" y="1508760"/>
            <a:ext cx="2185416" cy="1481328"/>
          </a:xfrm>
          <a:prstGeom prst="rect">
            <a:avLst/>
          </a:prstGeom>
          <a:ln>
            <a:noFill/>
          </a:ln>
        </p:spPr>
      </p:pic>
      <p:sp>
        <p:nvSpPr>
          <p:cNvPr id="24" name="Shape 25"/>
          <p:cNvSpPr/>
          <p:nvPr/>
        </p:nvSpPr>
        <p:spPr>
          <a:xfrm>
            <a:off x="9262872" y="1508760"/>
            <a:ext cx="2185416" cy="1481328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sp>
        <p:nvSpPr>
          <p:cNvPr id="25" name="TextBox 26"/>
          <p:cNvSpPr txBox="1"/>
          <p:nvPr/>
        </p:nvSpPr>
        <p:spPr>
          <a:xfrm>
            <a:off x="9281160" y="3246120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FF667A"/>
                </a:solidFill>
                <a:latin typeface="Aptos"/>
              </a:rPr>
              <a:t>EMERGENCY</a:t>
            </a:r>
            <a:endParaRPr lang="en-US" sz="1800">
              <a:solidFill>
                <a:srgbClr val="FF667A"/>
              </a:solidFill>
              <a:latin typeface="Aptos"/>
            </a:endParaRPr>
          </a:p>
        </p:txBody>
      </p:sp>
      <p:sp>
        <p:nvSpPr>
          <p:cNvPr id="26" name="TextBox 27"/>
          <p:cNvSpPr txBox="1"/>
          <p:nvPr/>
        </p:nvSpPr>
        <p:spPr>
          <a:xfrm>
            <a:off x="9281160" y="374904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>
                <a:solidFill>
                  <a:srgbClr val="F4F8FB"/>
                </a:solidFill>
                <a:latin typeface="Aptos"/>
              </a:rPr>
              <a:t>priority path</a:t>
            </a:r>
            <a:endParaRPr lang="en-US" sz="11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7" name="Shape 28"/>
          <p:cNvSpPr/>
          <p:nvPr/>
        </p:nvSpPr>
        <p:spPr>
          <a:xfrm>
            <a:off x="594360" y="5102352"/>
            <a:ext cx="10991088" cy="658368"/>
          </a:xfrm>
          <a:prstGeom prst="roundRect">
            <a:avLst/>
          </a:prstGeom>
          <a:solidFill>
            <a:srgbClr val="143244"/>
          </a:solidFill>
          <a:ln>
            <a:noFill/>
          </a:ln>
        </p:spPr>
      </p:sp>
      <p:sp>
        <p:nvSpPr>
          <p:cNvPr id="28" name="TextBox 29"/>
          <p:cNvSpPr txBox="1"/>
          <p:nvPr/>
        </p:nvSpPr>
        <p:spPr>
          <a:xfrm>
            <a:off x="822960" y="52852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B7F34A"/>
                </a:solidFill>
                <a:latin typeface="Aptos"/>
              </a:rPr>
              <a:t>PRIORITY ≠ ALWAYS GREEN</a:t>
            </a:r>
            <a:endParaRPr lang="en-US" sz="13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29" name="TextBox 30"/>
          <p:cNvSpPr txBox="1"/>
          <p:nvPr/>
        </p:nvSpPr>
        <p:spPr>
          <a:xfrm>
            <a:off x="3657600" y="5285232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>
                <a:solidFill>
                  <a:srgbClr val="F4F8FB"/>
                </a:solidFill>
                <a:latin typeface="Aptos"/>
              </a:rPr>
              <a:t>Minimum greens • pedestrian clearance • queue limits • network balance</a:t>
            </a:r>
            <a:endParaRPr lang="en-US" sz="12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30" name="TextBox 31"/>
          <p:cNvSpPr txBox="1"/>
          <p:nvPr/>
        </p:nvSpPr>
        <p:spPr>
          <a:xfrm>
            <a:off x="3154680" y="6016752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19D3B3"/>
                </a:solidFill>
                <a:latin typeface="Aptos"/>
              </a:rPr>
              <a:t>Policy constraints stay above optimisation.</a:t>
            </a:r>
            <a:endParaRPr lang="en-US" sz="12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31" name="Shape 32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2" name="TextBox 33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Source: TRL SCOOT 8 multimodal features • Internet visuals: Ultralytics, PyTorch Hub, Wikispeedia, Apache traffic project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33" name="TextBox 34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COMPETITOR COMPARISON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SCOOT 8 AI vs SCATS vs Surtrac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13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7" name="TextBox 8"/>
          <p:cNvSpPr txBox="1"/>
          <p:nvPr/>
        </p:nvSpPr>
        <p:spPr>
          <a:xfrm>
            <a:off x="502920" y="1234440"/>
            <a:ext cx="1938528" cy="512064"/>
          </a:xfrm>
          <a:prstGeom prst="rect">
            <a:avLst/>
          </a:prstGeom>
          <a:solidFill>
            <a:srgbClr val="143244"/>
          </a:solidFill>
          <a:ln>
            <a:noFill/>
          </a:ln>
        </p:spPr>
        <p:txBody>
          <a:bodyPr wrap="square" lIns="36576" tIns="36576" rIns="36576" bIns="36576" anchor="ctr"/>
          <a:lstStyle/>
          <a:p>
            <a:pPr algn="ctr"/>
            <a:r>
              <a:rPr lang="en-US" sz="1250" b="1">
                <a:solidFill>
                  <a:srgbClr val="9DB3C2"/>
                </a:solidFill>
                <a:latin typeface="Aptos"/>
              </a:rPr>
              <a:t>CRITERION</a:t>
            </a:r>
            <a:endParaRPr lang="en-US" sz="12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8" name="TextBox 9"/>
          <p:cNvSpPr txBox="1"/>
          <p:nvPr/>
        </p:nvSpPr>
        <p:spPr>
          <a:xfrm>
            <a:off x="2441448" y="1234440"/>
            <a:ext cx="2990088" cy="512064"/>
          </a:xfrm>
          <a:prstGeom prst="rect">
            <a:avLst/>
          </a:prstGeom>
          <a:solidFill>
            <a:srgbClr val="B7F34A"/>
          </a:solidFill>
          <a:ln>
            <a:noFill/>
          </a:ln>
        </p:spPr>
        <p:txBody>
          <a:bodyPr wrap="square" lIns="36576" tIns="36576" rIns="36576" bIns="36576" anchor="ctr"/>
          <a:lstStyle/>
          <a:p>
            <a:pPr algn="ctr"/>
            <a:r>
              <a:rPr lang="en-US" sz="1250" b="1">
                <a:solidFill>
                  <a:srgbClr val="06111A"/>
                </a:solidFill>
                <a:latin typeface="Aptos"/>
              </a:rPr>
              <a:t>SCOOT 8 AI</a:t>
            </a:r>
            <a:endParaRPr lang="en-US" sz="1250">
              <a:solidFill>
                <a:srgbClr val="06111A"/>
              </a:solidFill>
              <a:latin typeface="Aptos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5431536" y="1234440"/>
            <a:ext cx="2990088" cy="512064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txBody>
          <a:bodyPr wrap="square" lIns="36576" tIns="36576" rIns="36576" bIns="36576" anchor="ctr"/>
          <a:lstStyle/>
          <a:p>
            <a:pPr algn="ctr"/>
            <a:r>
              <a:rPr lang="en-US" sz="1250" b="1">
                <a:solidFill>
                  <a:srgbClr val="06111A"/>
                </a:solidFill>
                <a:latin typeface="Aptos"/>
              </a:rPr>
              <a:t>SCATS</a:t>
            </a:r>
            <a:endParaRPr lang="en-US" sz="1250">
              <a:solidFill>
                <a:srgbClr val="06111A"/>
              </a:solidFill>
              <a:latin typeface="Aptos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8421624" y="1234440"/>
            <a:ext cx="2990088" cy="5120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wrap="square" lIns="36576" tIns="36576" rIns="36576" bIns="36576" anchor="ctr"/>
          <a:lstStyle/>
          <a:p>
            <a:pPr algn="ctr"/>
            <a:r>
              <a:rPr lang="en-US" sz="1250" b="1">
                <a:solidFill>
                  <a:srgbClr val="06111A"/>
                </a:solidFill>
                <a:latin typeface="Aptos"/>
              </a:rPr>
              <a:t>SURTRAC</a:t>
            </a:r>
            <a:endParaRPr lang="en-US" sz="1250">
              <a:solidFill>
                <a:srgbClr val="06111A"/>
              </a:solidFill>
              <a:latin typeface="Aptos"/>
            </a:endParaRPr>
          </a:p>
        </p:txBody>
      </p:sp>
      <p:sp>
        <p:nvSpPr>
          <p:cNvPr id="11" name="Shape 12"/>
          <p:cNvSpPr/>
          <p:nvPr/>
        </p:nvSpPr>
        <p:spPr>
          <a:xfrm>
            <a:off x="502920" y="1783080"/>
            <a:ext cx="1938528" cy="768096"/>
          </a:xfrm>
          <a:prstGeom prst="rect">
            <a:avLst/>
          </a:prstGeom>
          <a:solidFill>
            <a:srgbClr val="0E2332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12" name="TextBox 13"/>
          <p:cNvSpPr txBox="1"/>
          <p:nvPr/>
        </p:nvSpPr>
        <p:spPr>
          <a:xfrm>
            <a:off x="576072" y="1837944"/>
            <a:ext cx="179222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en-US" sz="1050" b="1">
                <a:solidFill>
                  <a:srgbClr val="F4F8FB"/>
                </a:solidFill>
                <a:latin typeface="Aptos"/>
              </a:rPr>
              <a:t>Control style</a:t>
            </a:r>
            <a:endParaRPr lang="en-US" sz="10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3" name="Shape 14"/>
          <p:cNvSpPr/>
          <p:nvPr/>
        </p:nvSpPr>
        <p:spPr>
          <a:xfrm>
            <a:off x="2441448" y="1783080"/>
            <a:ext cx="2990088" cy="768096"/>
          </a:xfrm>
          <a:prstGeom prst="rect">
            <a:avLst/>
          </a:prstGeom>
          <a:solidFill>
            <a:srgbClr val="0E2332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14" name="TextBox 15"/>
          <p:cNvSpPr txBox="1"/>
          <p:nvPr/>
        </p:nvSpPr>
        <p:spPr>
          <a:xfrm>
            <a:off x="2514600" y="1837944"/>
            <a:ext cx="284378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Network model + predictive UTC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5" name="Shape 16"/>
          <p:cNvSpPr/>
          <p:nvPr/>
        </p:nvSpPr>
        <p:spPr>
          <a:xfrm>
            <a:off x="5431536" y="1783080"/>
            <a:ext cx="2990088" cy="768096"/>
          </a:xfrm>
          <a:prstGeom prst="rect">
            <a:avLst/>
          </a:prstGeom>
          <a:solidFill>
            <a:srgbClr val="0E2332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16" name="TextBox 17"/>
          <p:cNvSpPr txBox="1"/>
          <p:nvPr/>
        </p:nvSpPr>
        <p:spPr>
          <a:xfrm>
            <a:off x="5504688" y="1837944"/>
            <a:ext cx="284378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Real-time adaptive network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7" name="Shape 18"/>
          <p:cNvSpPr/>
          <p:nvPr/>
        </p:nvSpPr>
        <p:spPr>
          <a:xfrm>
            <a:off x="8421624" y="1783080"/>
            <a:ext cx="2990088" cy="768096"/>
          </a:xfrm>
          <a:prstGeom prst="rect">
            <a:avLst/>
          </a:prstGeom>
          <a:solidFill>
            <a:srgbClr val="0E2332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18" name="TextBox 19"/>
          <p:cNvSpPr txBox="1"/>
          <p:nvPr/>
        </p:nvSpPr>
        <p:spPr>
          <a:xfrm>
            <a:off x="8494776" y="1837944"/>
            <a:ext cx="284378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Distributed local scheduling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9" name="Shape 20"/>
          <p:cNvSpPr/>
          <p:nvPr/>
        </p:nvSpPr>
        <p:spPr>
          <a:xfrm>
            <a:off x="502920" y="2633472"/>
            <a:ext cx="1938528" cy="768096"/>
          </a:xfrm>
          <a:prstGeom prst="rect">
            <a:avLst/>
          </a:prstGeom>
          <a:solidFill>
            <a:srgbClr val="0A1926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20" name="TextBox 21"/>
          <p:cNvSpPr txBox="1"/>
          <p:nvPr/>
        </p:nvSpPr>
        <p:spPr>
          <a:xfrm>
            <a:off x="576072" y="2688336"/>
            <a:ext cx="179222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en-US" sz="1050" b="1">
                <a:solidFill>
                  <a:srgbClr val="F4F8FB"/>
                </a:solidFill>
                <a:latin typeface="Aptos"/>
              </a:rPr>
              <a:t>Look-ahead</a:t>
            </a:r>
            <a:endParaRPr lang="en-US" sz="10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1" name="Shape 22"/>
          <p:cNvSpPr/>
          <p:nvPr/>
        </p:nvSpPr>
        <p:spPr>
          <a:xfrm>
            <a:off x="2441448" y="2633472"/>
            <a:ext cx="2990088" cy="768096"/>
          </a:xfrm>
          <a:prstGeom prst="rect">
            <a:avLst/>
          </a:prstGeom>
          <a:solidFill>
            <a:srgbClr val="0A1926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22" name="TextBox 23"/>
          <p:cNvSpPr txBox="1"/>
          <p:nvPr/>
        </p:nvSpPr>
        <p:spPr>
          <a:xfrm>
            <a:off x="2514600" y="2688336"/>
            <a:ext cx="284378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Up to 30 min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3" name="Shape 24"/>
          <p:cNvSpPr/>
          <p:nvPr/>
        </p:nvSpPr>
        <p:spPr>
          <a:xfrm>
            <a:off x="5431536" y="2633472"/>
            <a:ext cx="2990088" cy="768096"/>
          </a:xfrm>
          <a:prstGeom prst="rect">
            <a:avLst/>
          </a:prstGeom>
          <a:solidFill>
            <a:srgbClr val="0A1926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24" name="TextBox 25"/>
          <p:cNvSpPr txBox="1"/>
          <p:nvPr/>
        </p:nvSpPr>
        <p:spPr>
          <a:xfrm>
            <a:off x="5504688" y="2688336"/>
            <a:ext cx="284378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Primarily live adaptive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5" name="Shape 26"/>
          <p:cNvSpPr/>
          <p:nvPr/>
        </p:nvSpPr>
        <p:spPr>
          <a:xfrm>
            <a:off x="8421624" y="2633472"/>
            <a:ext cx="2990088" cy="768096"/>
          </a:xfrm>
          <a:prstGeom prst="rect">
            <a:avLst/>
          </a:prstGeom>
          <a:solidFill>
            <a:srgbClr val="0A1926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26" name="TextBox 27"/>
          <p:cNvSpPr txBox="1"/>
          <p:nvPr/>
        </p:nvSpPr>
        <p:spPr>
          <a:xfrm>
            <a:off x="8494776" y="2688336"/>
            <a:ext cx="284378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Short-horizon neighbour plans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7" name="Shape 28"/>
          <p:cNvSpPr/>
          <p:nvPr/>
        </p:nvSpPr>
        <p:spPr>
          <a:xfrm>
            <a:off x="502920" y="3483864"/>
            <a:ext cx="1938528" cy="768096"/>
          </a:xfrm>
          <a:prstGeom prst="rect">
            <a:avLst/>
          </a:prstGeom>
          <a:solidFill>
            <a:srgbClr val="0E2332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28" name="TextBox 29"/>
          <p:cNvSpPr txBox="1"/>
          <p:nvPr/>
        </p:nvSpPr>
        <p:spPr>
          <a:xfrm>
            <a:off x="576072" y="3538728"/>
            <a:ext cx="179222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en-US" sz="1050" b="1">
                <a:solidFill>
                  <a:srgbClr val="F4F8FB"/>
                </a:solidFill>
                <a:latin typeface="Aptos"/>
              </a:rPr>
              <a:t>Architecture</a:t>
            </a:r>
            <a:endParaRPr lang="en-US" sz="10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9" name="Shape 30"/>
          <p:cNvSpPr/>
          <p:nvPr/>
        </p:nvSpPr>
        <p:spPr>
          <a:xfrm>
            <a:off x="2441448" y="3483864"/>
            <a:ext cx="2990088" cy="768096"/>
          </a:xfrm>
          <a:prstGeom prst="rect">
            <a:avLst/>
          </a:prstGeom>
          <a:solidFill>
            <a:srgbClr val="0E2332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30" name="TextBox 31"/>
          <p:cNvSpPr txBox="1"/>
          <p:nvPr/>
        </p:nvSpPr>
        <p:spPr>
          <a:xfrm>
            <a:off x="2514600" y="3538728"/>
            <a:ext cx="284378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Central platform + field controllers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1" name="Shape 32"/>
          <p:cNvSpPr/>
          <p:nvPr/>
        </p:nvSpPr>
        <p:spPr>
          <a:xfrm>
            <a:off x="5431536" y="3483864"/>
            <a:ext cx="2990088" cy="768096"/>
          </a:xfrm>
          <a:prstGeom prst="rect">
            <a:avLst/>
          </a:prstGeom>
          <a:solidFill>
            <a:srgbClr val="0E2332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32" name="TextBox 33"/>
          <p:cNvSpPr txBox="1"/>
          <p:nvPr/>
        </p:nvSpPr>
        <p:spPr>
          <a:xfrm>
            <a:off x="5504688" y="3538728"/>
            <a:ext cx="284378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Hierarchical / scalable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3" name="Shape 34"/>
          <p:cNvSpPr/>
          <p:nvPr/>
        </p:nvSpPr>
        <p:spPr>
          <a:xfrm>
            <a:off x="8421624" y="3483864"/>
            <a:ext cx="2990088" cy="768096"/>
          </a:xfrm>
          <a:prstGeom prst="rect">
            <a:avLst/>
          </a:prstGeom>
          <a:solidFill>
            <a:srgbClr val="0E2332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34" name="TextBox 35"/>
          <p:cNvSpPr txBox="1"/>
          <p:nvPr/>
        </p:nvSpPr>
        <p:spPr>
          <a:xfrm>
            <a:off x="8494776" y="3538728"/>
            <a:ext cx="284378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Intersection agents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5" name="Shape 36"/>
          <p:cNvSpPr/>
          <p:nvPr/>
        </p:nvSpPr>
        <p:spPr>
          <a:xfrm>
            <a:off x="502920" y="4334256"/>
            <a:ext cx="1938528" cy="768096"/>
          </a:xfrm>
          <a:prstGeom prst="rect">
            <a:avLst/>
          </a:prstGeom>
          <a:solidFill>
            <a:srgbClr val="0A1926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36" name="TextBox 37"/>
          <p:cNvSpPr txBox="1"/>
          <p:nvPr/>
        </p:nvSpPr>
        <p:spPr>
          <a:xfrm>
            <a:off x="576072" y="4389120"/>
            <a:ext cx="179222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en-US" sz="1050" b="1">
                <a:solidFill>
                  <a:srgbClr val="F4F8FB"/>
                </a:solidFill>
                <a:latin typeface="Aptos"/>
              </a:rPr>
              <a:t>Best fit</a:t>
            </a:r>
            <a:endParaRPr lang="en-US" sz="10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37" name="Shape 38"/>
          <p:cNvSpPr/>
          <p:nvPr/>
        </p:nvSpPr>
        <p:spPr>
          <a:xfrm>
            <a:off x="2441448" y="4334256"/>
            <a:ext cx="2990088" cy="768096"/>
          </a:xfrm>
          <a:prstGeom prst="rect">
            <a:avLst/>
          </a:prstGeom>
          <a:solidFill>
            <a:srgbClr val="0A1926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38" name="TextBox 39"/>
          <p:cNvSpPr txBox="1"/>
          <p:nvPr/>
        </p:nvSpPr>
        <p:spPr>
          <a:xfrm>
            <a:off x="2514600" y="4389120"/>
            <a:ext cx="284378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Coordinated corridors + city networks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9" name="Shape 40"/>
          <p:cNvSpPr/>
          <p:nvPr/>
        </p:nvSpPr>
        <p:spPr>
          <a:xfrm>
            <a:off x="5431536" y="4334256"/>
            <a:ext cx="2990088" cy="768096"/>
          </a:xfrm>
          <a:prstGeom prst="rect">
            <a:avLst/>
          </a:prstGeom>
          <a:solidFill>
            <a:srgbClr val="0A1926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40" name="TextBox 41"/>
          <p:cNvSpPr txBox="1"/>
          <p:nvPr/>
        </p:nvSpPr>
        <p:spPr>
          <a:xfrm>
            <a:off x="5504688" y="4389120"/>
            <a:ext cx="284378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Large mature signal networks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41" name="Shape 42"/>
          <p:cNvSpPr/>
          <p:nvPr/>
        </p:nvSpPr>
        <p:spPr>
          <a:xfrm>
            <a:off x="8421624" y="4334256"/>
            <a:ext cx="2990088" cy="768096"/>
          </a:xfrm>
          <a:prstGeom prst="rect">
            <a:avLst/>
          </a:prstGeom>
          <a:solidFill>
            <a:srgbClr val="0A1926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42" name="TextBox 43"/>
          <p:cNvSpPr txBox="1"/>
          <p:nvPr/>
        </p:nvSpPr>
        <p:spPr>
          <a:xfrm>
            <a:off x="8494776" y="4389120"/>
            <a:ext cx="284378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Local grids / edge autonomy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43" name="Shape 44"/>
          <p:cNvSpPr/>
          <p:nvPr/>
        </p:nvSpPr>
        <p:spPr>
          <a:xfrm>
            <a:off x="502920" y="5184648"/>
            <a:ext cx="1938528" cy="768096"/>
          </a:xfrm>
          <a:prstGeom prst="rect">
            <a:avLst/>
          </a:prstGeom>
          <a:solidFill>
            <a:srgbClr val="0E2332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44" name="TextBox 45"/>
          <p:cNvSpPr txBox="1"/>
          <p:nvPr/>
        </p:nvSpPr>
        <p:spPr>
          <a:xfrm>
            <a:off x="576072" y="5239512"/>
            <a:ext cx="179222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/>
            <a:r>
              <a:rPr lang="en-US" sz="1050" b="1">
                <a:solidFill>
                  <a:srgbClr val="F4F8FB"/>
                </a:solidFill>
                <a:latin typeface="Aptos"/>
              </a:rPr>
              <a:t>Published reach</a:t>
            </a:r>
            <a:endParaRPr lang="en-US" sz="10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45" name="Shape 46"/>
          <p:cNvSpPr/>
          <p:nvPr/>
        </p:nvSpPr>
        <p:spPr>
          <a:xfrm>
            <a:off x="2441448" y="5184648"/>
            <a:ext cx="2990088" cy="768096"/>
          </a:xfrm>
          <a:prstGeom prst="rect">
            <a:avLst/>
          </a:prstGeom>
          <a:solidFill>
            <a:srgbClr val="0E2332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46" name="TextBox 47"/>
          <p:cNvSpPr txBox="1"/>
          <p:nvPr/>
        </p:nvSpPr>
        <p:spPr>
          <a:xfrm>
            <a:off x="2514600" y="5239512"/>
            <a:ext cx="284378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350+ towns &amp; cities*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47" name="Shape 48"/>
          <p:cNvSpPr/>
          <p:nvPr/>
        </p:nvSpPr>
        <p:spPr>
          <a:xfrm>
            <a:off x="5431536" y="5184648"/>
            <a:ext cx="2990088" cy="768096"/>
          </a:xfrm>
          <a:prstGeom prst="rect">
            <a:avLst/>
          </a:prstGeom>
          <a:solidFill>
            <a:srgbClr val="0E2332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48" name="TextBox 49"/>
          <p:cNvSpPr txBox="1"/>
          <p:nvPr/>
        </p:nvSpPr>
        <p:spPr>
          <a:xfrm>
            <a:off x="5504688" y="5239512"/>
            <a:ext cx="284378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60,000+ intersections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49" name="Shape 50"/>
          <p:cNvSpPr/>
          <p:nvPr/>
        </p:nvSpPr>
        <p:spPr>
          <a:xfrm>
            <a:off x="8421624" y="5184648"/>
            <a:ext cx="2990088" cy="768096"/>
          </a:xfrm>
          <a:prstGeom prst="rect">
            <a:avLst/>
          </a:prstGeom>
          <a:solidFill>
            <a:srgbClr val="0E2332"/>
          </a:solidFill>
          <a:ln w="7620">
            <a:solidFill>
              <a:srgbClr val="1C384A"/>
            </a:solidFill>
            <a:prstDash val="solid"/>
          </a:ln>
        </p:spPr>
      </p:sp>
      <p:sp>
        <p:nvSpPr>
          <p:cNvPr id="50" name="TextBox 51"/>
          <p:cNvSpPr txBox="1"/>
          <p:nvPr/>
        </p:nvSpPr>
        <p:spPr>
          <a:xfrm>
            <a:off x="8494776" y="5239512"/>
            <a:ext cx="2843784" cy="6583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/>
            <a:r>
              <a:rPr lang="en-US" sz="1000">
                <a:solidFill>
                  <a:srgbClr val="9DB3C2"/>
                </a:solidFill>
                <a:latin typeface="Aptos"/>
              </a:rPr>
              <a:t>50 Pittsburgh sites†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51" name="TextBox 52"/>
          <p:cNvSpPr txBox="1"/>
          <p:nvPr/>
        </p:nvSpPr>
        <p:spPr>
          <a:xfrm>
            <a:off x="640080" y="6144768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9DB3C2"/>
                </a:solidFill>
                <a:latin typeface="Aptos"/>
              </a:rPr>
              <a:t>* SCOOT family footprint  •  † CMU figure as of 2019</a:t>
            </a:r>
            <a:endParaRPr lang="en-US" sz="8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52" name="TextBox 53"/>
          <p:cNvSpPr txBox="1"/>
          <p:nvPr/>
        </p:nvSpPr>
        <p:spPr>
          <a:xfrm>
            <a:off x="8732520" y="5989320"/>
            <a:ext cx="2286000" cy="310896"/>
          </a:xfrm>
          <a:prstGeom prst="roundRect">
            <a:avLst/>
          </a:prstGeom>
          <a:solidFill>
            <a:srgbClr val="FFB547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ctr"/>
            <a:r>
              <a:rPr lang="en-US" sz="1050" b="1">
                <a:solidFill>
                  <a:srgbClr val="06111A"/>
                </a:solidFill>
                <a:latin typeface="Aptos"/>
              </a:rPr>
              <a:t>No universal winner</a:t>
            </a:r>
            <a:endParaRPr lang="en-US" sz="1050">
              <a:solidFill>
                <a:srgbClr val="06111A"/>
              </a:solidFill>
              <a:latin typeface="Aptos"/>
            </a:endParaRPr>
          </a:p>
        </p:txBody>
      </p:sp>
      <p:sp>
        <p:nvSpPr>
          <p:cNvPr id="53" name="Shape 54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54" name="TextBox 55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Sources: TRL Software; SCATS official site; Carnegie Mellon University Surtrac profile • Different product claims and dates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55" name="TextBox 56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EVIDENCE, WITH CONTEXT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What the published numbers actually say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14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7" name="Shape 8"/>
          <p:cNvSpPr/>
          <p:nvPr/>
        </p:nvSpPr>
        <p:spPr>
          <a:xfrm>
            <a:off x="566928" y="1298448"/>
            <a:ext cx="2633472" cy="1947672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8" name="TextBox 9"/>
          <p:cNvSpPr txBox="1"/>
          <p:nvPr/>
        </p:nvSpPr>
        <p:spPr>
          <a:xfrm>
            <a:off x="731520" y="1444752"/>
            <a:ext cx="230428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B7F34A"/>
                </a:solidFill>
                <a:latin typeface="Aptos"/>
              </a:rPr>
              <a:t>15%</a:t>
            </a:r>
            <a:endParaRPr lang="en-US" sz="28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731520" y="2057400"/>
            <a:ext cx="230428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journey time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731520" y="2834640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30">
                <a:solidFill>
                  <a:srgbClr val="9DB3C2"/>
                </a:solidFill>
                <a:latin typeface="Aptos"/>
              </a:rPr>
              <a:t>SCOOT 8 AI • TRL vendor claim</a:t>
            </a:r>
            <a:endParaRPr lang="en-US" sz="83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1" name="Shape 12"/>
          <p:cNvSpPr/>
          <p:nvPr/>
        </p:nvSpPr>
        <p:spPr>
          <a:xfrm>
            <a:off x="3374136" y="1298448"/>
            <a:ext cx="2633472" cy="1947672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12" name="TextBox 13"/>
          <p:cNvSpPr txBox="1"/>
          <p:nvPr/>
        </p:nvSpPr>
        <p:spPr>
          <a:xfrm>
            <a:off x="3538728" y="1444752"/>
            <a:ext cx="230428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19D3B3"/>
                </a:solidFill>
                <a:latin typeface="Aptos"/>
              </a:rPr>
              <a:t>12%</a:t>
            </a:r>
            <a:endParaRPr lang="en-US" sz="28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13" name="TextBox 14"/>
          <p:cNvSpPr txBox="1"/>
          <p:nvPr/>
        </p:nvSpPr>
        <p:spPr>
          <a:xfrm>
            <a:off x="3538728" y="2057400"/>
            <a:ext cx="230428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delay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4" name="TextBox 15"/>
          <p:cNvSpPr txBox="1"/>
          <p:nvPr/>
        </p:nvSpPr>
        <p:spPr>
          <a:xfrm>
            <a:off x="3538728" y="2834640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30">
                <a:solidFill>
                  <a:srgbClr val="9DB3C2"/>
                </a:solidFill>
                <a:latin typeface="Aptos"/>
              </a:rPr>
              <a:t>London SCOOT • GLA average</a:t>
            </a:r>
            <a:endParaRPr lang="en-US" sz="83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5" name="Shape 16"/>
          <p:cNvSpPr/>
          <p:nvPr/>
        </p:nvSpPr>
        <p:spPr>
          <a:xfrm>
            <a:off x="6181344" y="1298448"/>
            <a:ext cx="2633472" cy="1947672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16" name="TextBox 17"/>
          <p:cNvSpPr txBox="1"/>
          <p:nvPr/>
        </p:nvSpPr>
        <p:spPr>
          <a:xfrm>
            <a:off x="6345936" y="1444752"/>
            <a:ext cx="230428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A78BFA"/>
                </a:solidFill>
                <a:latin typeface="Aptos"/>
              </a:rPr>
              <a:t>25%</a:t>
            </a:r>
            <a:endParaRPr lang="en-US" sz="2800">
              <a:solidFill>
                <a:srgbClr val="A78BFA"/>
              </a:solidFill>
              <a:latin typeface="Aptos"/>
            </a:endParaRPr>
          </a:p>
        </p:txBody>
      </p:sp>
      <p:sp>
        <p:nvSpPr>
          <p:cNvPr id="17" name="TextBox 18"/>
          <p:cNvSpPr txBox="1"/>
          <p:nvPr/>
        </p:nvSpPr>
        <p:spPr>
          <a:xfrm>
            <a:off x="6345936" y="2057400"/>
            <a:ext cx="230428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travel time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8" name="TextBox 19"/>
          <p:cNvSpPr txBox="1"/>
          <p:nvPr/>
        </p:nvSpPr>
        <p:spPr>
          <a:xfrm>
            <a:off x="6345936" y="2834640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30">
                <a:solidFill>
                  <a:srgbClr val="9DB3C2"/>
                </a:solidFill>
                <a:latin typeface="Aptos"/>
              </a:rPr>
              <a:t>Surtrac • CMU Pittsburgh report</a:t>
            </a:r>
            <a:endParaRPr lang="en-US" sz="83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9" name="Shape 20"/>
          <p:cNvSpPr/>
          <p:nvPr/>
        </p:nvSpPr>
        <p:spPr>
          <a:xfrm>
            <a:off x="8988552" y="1298448"/>
            <a:ext cx="2633472" cy="1947672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20" name="TextBox 21"/>
          <p:cNvSpPr txBox="1"/>
          <p:nvPr/>
        </p:nvSpPr>
        <p:spPr>
          <a:xfrm>
            <a:off x="9153144" y="1444752"/>
            <a:ext cx="230428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FFB547"/>
                </a:solidFill>
                <a:latin typeface="Aptos"/>
              </a:rPr>
              <a:t>33%</a:t>
            </a:r>
            <a:endParaRPr lang="en-US" sz="2800">
              <a:solidFill>
                <a:srgbClr val="FFB547"/>
              </a:solidFill>
              <a:latin typeface="Aptos"/>
            </a:endParaRPr>
          </a:p>
        </p:txBody>
      </p:sp>
      <p:sp>
        <p:nvSpPr>
          <p:cNvPr id="21" name="TextBox 22"/>
          <p:cNvSpPr txBox="1"/>
          <p:nvPr/>
        </p:nvSpPr>
        <p:spPr>
          <a:xfrm>
            <a:off x="9153144" y="2057400"/>
            <a:ext cx="230428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travel time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2" name="TextBox 23"/>
          <p:cNvSpPr txBox="1"/>
          <p:nvPr/>
        </p:nvSpPr>
        <p:spPr>
          <a:xfrm>
            <a:off x="9153144" y="2834640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30">
                <a:solidFill>
                  <a:srgbClr val="9DB3C2"/>
                </a:solidFill>
                <a:latin typeface="Aptos"/>
              </a:rPr>
              <a:t>Bengaluru B-ATCS • reported peaks</a:t>
            </a:r>
            <a:endParaRPr lang="en-US" sz="83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3" name="Shape 24"/>
          <p:cNvSpPr/>
          <p:nvPr/>
        </p:nvSpPr>
        <p:spPr>
          <a:xfrm>
            <a:off x="576072" y="3584448"/>
            <a:ext cx="11045952" cy="932688"/>
          </a:xfrm>
          <a:prstGeom prst="roundRect">
            <a:avLst/>
          </a:prstGeom>
          <a:solidFill>
            <a:srgbClr val="143244"/>
          </a:solidFill>
          <a:ln w="16510">
            <a:solidFill>
              <a:srgbClr val="FFB547"/>
            </a:solidFill>
            <a:prstDash val="solid"/>
          </a:ln>
        </p:spPr>
      </p:sp>
      <p:sp>
        <p:nvSpPr>
          <p:cNvPr id="24" name="TextBox 25"/>
          <p:cNvSpPr txBox="1"/>
          <p:nvPr/>
        </p:nvSpPr>
        <p:spPr>
          <a:xfrm>
            <a:off x="850392" y="3813048"/>
            <a:ext cx="370332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FFB547"/>
                </a:solidFill>
                <a:latin typeface="Aptos"/>
              </a:rPr>
              <a:t>These are not head-to-head benchmarks.</a:t>
            </a:r>
            <a:endParaRPr lang="en-US" sz="1700">
              <a:solidFill>
                <a:srgbClr val="FFB547"/>
              </a:solidFill>
              <a:latin typeface="Aptos"/>
            </a:endParaRPr>
          </a:p>
        </p:txBody>
      </p:sp>
      <p:sp>
        <p:nvSpPr>
          <p:cNvPr id="25" name="TextBox 26"/>
          <p:cNvSpPr txBox="1"/>
          <p:nvPr/>
        </p:nvSpPr>
        <p:spPr>
          <a:xfrm>
            <a:off x="4553712" y="3840480"/>
            <a:ext cx="64465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>
                <a:solidFill>
                  <a:srgbClr val="F4F8FB"/>
                </a:solidFill>
                <a:latin typeface="Aptos"/>
              </a:rPr>
              <a:t>Baselines, networks, study periods and reporting methods differ.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6" name="TextBox 27"/>
          <p:cNvSpPr txBox="1"/>
          <p:nvPr/>
        </p:nvSpPr>
        <p:spPr>
          <a:xfrm>
            <a:off x="1078992" y="4901184"/>
            <a:ext cx="100126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100" b="1">
                <a:solidFill>
                  <a:srgbClr val="F4F8FB"/>
                </a:solidFill>
                <a:latin typeface="Aptos"/>
              </a:rPr>
              <a:t>Use them to set the order of magnitude—not to promise a Bengaluru result.</a:t>
            </a:r>
            <a:endParaRPr lang="en-US" sz="21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7" name="TextBox 28"/>
          <p:cNvSpPr txBox="1"/>
          <p:nvPr/>
        </p:nvSpPr>
        <p:spPr>
          <a:xfrm>
            <a:off x="2880360" y="5577840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19D3B3"/>
                </a:solidFill>
                <a:latin typeface="Aptos"/>
              </a:rPr>
              <a:t>Pilot → measure → compare with a pre-agreed baseline</a:t>
            </a:r>
            <a:endParaRPr lang="en-US" sz="13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28" name="Shape 29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9" name="TextBox 30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Sources: TRL (2025); Greater London Authority; CMU (2019); Indian Express report on Bengaluru B-ATCS (2024)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30" name="TextBox 31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DESIGN ASSESSMENT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Which system fits an Indian corridor?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15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7" name="TextBox 8"/>
          <p:cNvSpPr txBox="1"/>
          <p:nvPr/>
        </p:nvSpPr>
        <p:spPr>
          <a:xfrm>
            <a:off x="4709160" y="11887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9DB3C2"/>
                </a:solidFill>
                <a:latin typeface="Aptos"/>
              </a:rPr>
              <a:t>1</a:t>
            </a:r>
            <a:endParaRPr lang="en-US" sz="8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8" name="TextBox 9"/>
          <p:cNvSpPr txBox="1"/>
          <p:nvPr/>
        </p:nvSpPr>
        <p:spPr>
          <a:xfrm>
            <a:off x="9555480" y="11887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9DB3C2"/>
                </a:solidFill>
                <a:latin typeface="Aptos"/>
              </a:rPr>
              <a:t>5</a:t>
            </a:r>
            <a:endParaRPr lang="en-US" sz="8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658368" y="1618488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Network coordination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0" name="Shape 11"/>
          <p:cNvSpPr/>
          <p:nvPr/>
        </p:nvSpPr>
        <p:spPr>
          <a:xfrm>
            <a:off x="4279392" y="160020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1" name="Shape 12"/>
          <p:cNvSpPr/>
          <p:nvPr/>
        </p:nvSpPr>
        <p:spPr>
          <a:xfrm>
            <a:off x="5468112" y="160020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2" name="Shape 13"/>
          <p:cNvSpPr/>
          <p:nvPr/>
        </p:nvSpPr>
        <p:spPr>
          <a:xfrm>
            <a:off x="6656832" y="160020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3" name="Shape 14"/>
          <p:cNvSpPr/>
          <p:nvPr/>
        </p:nvSpPr>
        <p:spPr>
          <a:xfrm>
            <a:off x="7845552" y="160020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4" name="Shape 15"/>
          <p:cNvSpPr/>
          <p:nvPr/>
        </p:nvSpPr>
        <p:spPr>
          <a:xfrm>
            <a:off x="9034272" y="160020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5" name="TextBox 16"/>
          <p:cNvSpPr txBox="1"/>
          <p:nvPr/>
        </p:nvSpPr>
        <p:spPr>
          <a:xfrm>
            <a:off x="658368" y="2441448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Retrofit potential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6" name="Shape 17"/>
          <p:cNvSpPr/>
          <p:nvPr/>
        </p:nvSpPr>
        <p:spPr>
          <a:xfrm>
            <a:off x="4279392" y="242316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7" name="Shape 18"/>
          <p:cNvSpPr/>
          <p:nvPr/>
        </p:nvSpPr>
        <p:spPr>
          <a:xfrm>
            <a:off x="5468112" y="242316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8" name="Shape 19"/>
          <p:cNvSpPr/>
          <p:nvPr/>
        </p:nvSpPr>
        <p:spPr>
          <a:xfrm>
            <a:off x="6656832" y="242316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9" name="Shape 20"/>
          <p:cNvSpPr/>
          <p:nvPr/>
        </p:nvSpPr>
        <p:spPr>
          <a:xfrm>
            <a:off x="7845552" y="242316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0" name="Shape 21"/>
          <p:cNvSpPr/>
          <p:nvPr/>
        </p:nvSpPr>
        <p:spPr>
          <a:xfrm>
            <a:off x="9034272" y="242316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1" name="TextBox 22"/>
          <p:cNvSpPr txBox="1"/>
          <p:nvPr/>
        </p:nvSpPr>
        <p:spPr>
          <a:xfrm>
            <a:off x="658368" y="3264408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Distributed resilience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2" name="Shape 23"/>
          <p:cNvSpPr/>
          <p:nvPr/>
        </p:nvSpPr>
        <p:spPr>
          <a:xfrm>
            <a:off x="4279392" y="324612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3" name="Shape 24"/>
          <p:cNvSpPr/>
          <p:nvPr/>
        </p:nvSpPr>
        <p:spPr>
          <a:xfrm>
            <a:off x="5468112" y="324612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4" name="Shape 25"/>
          <p:cNvSpPr/>
          <p:nvPr/>
        </p:nvSpPr>
        <p:spPr>
          <a:xfrm>
            <a:off x="6656832" y="324612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5" name="Shape 26"/>
          <p:cNvSpPr/>
          <p:nvPr/>
        </p:nvSpPr>
        <p:spPr>
          <a:xfrm>
            <a:off x="7845552" y="324612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6" name="Shape 27"/>
          <p:cNvSpPr/>
          <p:nvPr/>
        </p:nvSpPr>
        <p:spPr>
          <a:xfrm>
            <a:off x="9034272" y="324612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7" name="TextBox 28"/>
          <p:cNvSpPr txBox="1"/>
          <p:nvPr/>
        </p:nvSpPr>
        <p:spPr>
          <a:xfrm>
            <a:off x="658368" y="4087368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Published scale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8" name="Shape 29"/>
          <p:cNvSpPr/>
          <p:nvPr/>
        </p:nvSpPr>
        <p:spPr>
          <a:xfrm>
            <a:off x="4279392" y="406908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29" name="Shape 30"/>
          <p:cNvSpPr/>
          <p:nvPr/>
        </p:nvSpPr>
        <p:spPr>
          <a:xfrm>
            <a:off x="5468112" y="406908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0" name="Shape 31"/>
          <p:cNvSpPr/>
          <p:nvPr/>
        </p:nvSpPr>
        <p:spPr>
          <a:xfrm>
            <a:off x="6656832" y="406908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1" name="Shape 32"/>
          <p:cNvSpPr/>
          <p:nvPr/>
        </p:nvSpPr>
        <p:spPr>
          <a:xfrm>
            <a:off x="7845552" y="406908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2" name="Shape 33"/>
          <p:cNvSpPr/>
          <p:nvPr/>
        </p:nvSpPr>
        <p:spPr>
          <a:xfrm>
            <a:off x="9034272" y="4069080"/>
            <a:ext cx="256032" cy="256032"/>
          </a:xfrm>
          <a:prstGeom prst="ellipse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3" name="TextBox 34"/>
          <p:cNvSpPr txBox="1"/>
          <p:nvPr/>
        </p:nvSpPr>
        <p:spPr>
          <a:xfrm>
            <a:off x="9372600" y="1600200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B7F34A"/>
                </a:solidFill>
                <a:latin typeface="Aptos"/>
              </a:rPr>
              <a:t>SCOOT 8 AI</a:t>
            </a:r>
            <a:endParaRPr lang="en-US" sz="13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34" name="Shape 35"/>
          <p:cNvSpPr/>
          <p:nvPr/>
        </p:nvSpPr>
        <p:spPr>
          <a:xfrm>
            <a:off x="9372600" y="1993392"/>
            <a:ext cx="1234440" cy="50292"/>
          </a:xfrm>
          <a:prstGeom prst="rect">
            <a:avLst/>
          </a:prstGeom>
          <a:solidFill>
            <a:srgbClr val="B7F34A"/>
          </a:solidFill>
          <a:ln>
            <a:noFill/>
          </a:ln>
        </p:spPr>
      </p:sp>
      <p:sp>
        <p:nvSpPr>
          <p:cNvPr id="35" name="TextBox 36"/>
          <p:cNvSpPr txBox="1"/>
          <p:nvPr/>
        </p:nvSpPr>
        <p:spPr>
          <a:xfrm>
            <a:off x="9372600" y="2697480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4EA1FF"/>
                </a:solidFill>
                <a:latin typeface="Aptos"/>
              </a:rPr>
              <a:t>SCATS</a:t>
            </a:r>
            <a:endParaRPr lang="en-US" sz="1300">
              <a:solidFill>
                <a:srgbClr val="4EA1FF"/>
              </a:solidFill>
              <a:latin typeface="Aptos"/>
            </a:endParaRPr>
          </a:p>
        </p:txBody>
      </p:sp>
      <p:sp>
        <p:nvSpPr>
          <p:cNvPr id="36" name="Shape 37"/>
          <p:cNvSpPr/>
          <p:nvPr/>
        </p:nvSpPr>
        <p:spPr>
          <a:xfrm>
            <a:off x="9372600" y="3090672"/>
            <a:ext cx="1234440" cy="50292"/>
          </a:xfrm>
          <a:prstGeom prst="rect">
            <a:avLst/>
          </a:prstGeom>
          <a:solidFill>
            <a:srgbClr val="4EA1FF"/>
          </a:solidFill>
          <a:ln>
            <a:noFill/>
          </a:ln>
        </p:spPr>
      </p:sp>
      <p:sp>
        <p:nvSpPr>
          <p:cNvPr id="37" name="TextBox 38"/>
          <p:cNvSpPr txBox="1"/>
          <p:nvPr/>
        </p:nvSpPr>
        <p:spPr>
          <a:xfrm>
            <a:off x="9372600" y="3794760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A78BFA"/>
                </a:solidFill>
                <a:latin typeface="Aptos"/>
              </a:rPr>
              <a:t>SURTRAC</a:t>
            </a:r>
            <a:endParaRPr lang="en-US" sz="1300">
              <a:solidFill>
                <a:srgbClr val="A78BFA"/>
              </a:solidFill>
              <a:latin typeface="Aptos"/>
            </a:endParaRPr>
          </a:p>
        </p:txBody>
      </p:sp>
      <p:sp>
        <p:nvSpPr>
          <p:cNvPr id="38" name="Shape 39"/>
          <p:cNvSpPr/>
          <p:nvPr/>
        </p:nvSpPr>
        <p:spPr>
          <a:xfrm>
            <a:off x="9372600" y="4187952"/>
            <a:ext cx="1234440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39" name="Shape 40"/>
          <p:cNvSpPr/>
          <p:nvPr/>
        </p:nvSpPr>
        <p:spPr>
          <a:xfrm>
            <a:off x="8970264" y="1600200"/>
            <a:ext cx="384048" cy="384048"/>
          </a:xfrm>
          <a:prstGeom prst="ellipse">
            <a:avLst/>
          </a:prstGeom>
          <a:solidFill>
            <a:srgbClr val="B7F34A"/>
          </a:solidFill>
          <a:ln w="12700">
            <a:solidFill>
              <a:srgbClr val="07131F"/>
            </a:solidFill>
            <a:prstDash val="solid"/>
          </a:ln>
        </p:spPr>
      </p:sp>
      <p:sp>
        <p:nvSpPr>
          <p:cNvPr id="40" name="Shape 41"/>
          <p:cNvSpPr/>
          <p:nvPr/>
        </p:nvSpPr>
        <p:spPr>
          <a:xfrm>
            <a:off x="8970264" y="2423160"/>
            <a:ext cx="384048" cy="384048"/>
          </a:xfrm>
          <a:prstGeom prst="ellipse">
            <a:avLst/>
          </a:prstGeom>
          <a:solidFill>
            <a:srgbClr val="B7F34A"/>
          </a:solidFill>
          <a:ln w="12700">
            <a:solidFill>
              <a:srgbClr val="07131F"/>
            </a:solidFill>
            <a:prstDash val="solid"/>
          </a:ln>
        </p:spPr>
      </p:sp>
      <p:sp>
        <p:nvSpPr>
          <p:cNvPr id="41" name="Shape 42"/>
          <p:cNvSpPr/>
          <p:nvPr/>
        </p:nvSpPr>
        <p:spPr>
          <a:xfrm>
            <a:off x="7781544" y="3246120"/>
            <a:ext cx="384048" cy="384048"/>
          </a:xfrm>
          <a:prstGeom prst="ellipse">
            <a:avLst/>
          </a:prstGeom>
          <a:solidFill>
            <a:srgbClr val="B7F34A"/>
          </a:solidFill>
          <a:ln w="12700">
            <a:solidFill>
              <a:srgbClr val="07131F"/>
            </a:solidFill>
            <a:prstDash val="solid"/>
          </a:ln>
        </p:spPr>
      </p:sp>
      <p:sp>
        <p:nvSpPr>
          <p:cNvPr id="42" name="Shape 43"/>
          <p:cNvSpPr/>
          <p:nvPr/>
        </p:nvSpPr>
        <p:spPr>
          <a:xfrm>
            <a:off x="8970264" y="4069080"/>
            <a:ext cx="384048" cy="384048"/>
          </a:xfrm>
          <a:prstGeom prst="ellipse">
            <a:avLst/>
          </a:prstGeom>
          <a:solidFill>
            <a:srgbClr val="B7F34A"/>
          </a:solidFill>
          <a:ln w="12700">
            <a:solidFill>
              <a:srgbClr val="07131F"/>
            </a:solidFill>
            <a:prstDash val="solid"/>
          </a:ln>
        </p:spPr>
      </p:sp>
      <p:sp>
        <p:nvSpPr>
          <p:cNvPr id="43" name="Shape 44"/>
          <p:cNvSpPr/>
          <p:nvPr/>
        </p:nvSpPr>
        <p:spPr>
          <a:xfrm>
            <a:off x="8970264" y="1700784"/>
            <a:ext cx="384048" cy="384048"/>
          </a:xfrm>
          <a:prstGeom prst="ellipse">
            <a:avLst/>
          </a:prstGeom>
          <a:solidFill>
            <a:srgbClr val="4EA1FF"/>
          </a:solidFill>
          <a:ln w="12700">
            <a:solidFill>
              <a:srgbClr val="07131F"/>
            </a:solidFill>
            <a:prstDash val="solid"/>
          </a:ln>
        </p:spPr>
      </p:sp>
      <p:sp>
        <p:nvSpPr>
          <p:cNvPr id="44" name="Shape 45"/>
          <p:cNvSpPr/>
          <p:nvPr/>
        </p:nvSpPr>
        <p:spPr>
          <a:xfrm>
            <a:off x="7781544" y="2523744"/>
            <a:ext cx="384048" cy="384048"/>
          </a:xfrm>
          <a:prstGeom prst="ellipse">
            <a:avLst/>
          </a:prstGeom>
          <a:solidFill>
            <a:srgbClr val="4EA1FF"/>
          </a:solidFill>
          <a:ln w="12700">
            <a:solidFill>
              <a:srgbClr val="07131F"/>
            </a:solidFill>
            <a:prstDash val="solid"/>
          </a:ln>
        </p:spPr>
      </p:sp>
      <p:sp>
        <p:nvSpPr>
          <p:cNvPr id="45" name="Shape 46"/>
          <p:cNvSpPr/>
          <p:nvPr/>
        </p:nvSpPr>
        <p:spPr>
          <a:xfrm>
            <a:off x="6592824" y="3346704"/>
            <a:ext cx="384048" cy="384048"/>
          </a:xfrm>
          <a:prstGeom prst="ellipse">
            <a:avLst/>
          </a:prstGeom>
          <a:solidFill>
            <a:srgbClr val="4EA1FF"/>
          </a:solidFill>
          <a:ln w="12700">
            <a:solidFill>
              <a:srgbClr val="07131F"/>
            </a:solidFill>
            <a:prstDash val="solid"/>
          </a:ln>
        </p:spPr>
      </p:sp>
      <p:sp>
        <p:nvSpPr>
          <p:cNvPr id="46" name="Shape 47"/>
          <p:cNvSpPr/>
          <p:nvPr/>
        </p:nvSpPr>
        <p:spPr>
          <a:xfrm>
            <a:off x="8970264" y="4169664"/>
            <a:ext cx="384048" cy="384048"/>
          </a:xfrm>
          <a:prstGeom prst="ellipse">
            <a:avLst/>
          </a:prstGeom>
          <a:solidFill>
            <a:srgbClr val="4EA1FF"/>
          </a:solidFill>
          <a:ln w="12700">
            <a:solidFill>
              <a:srgbClr val="07131F"/>
            </a:solidFill>
            <a:prstDash val="solid"/>
          </a:ln>
        </p:spPr>
      </p:sp>
      <p:sp>
        <p:nvSpPr>
          <p:cNvPr id="47" name="Shape 48"/>
          <p:cNvSpPr/>
          <p:nvPr/>
        </p:nvSpPr>
        <p:spPr>
          <a:xfrm>
            <a:off x="6592824" y="1801368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31F"/>
            </a:solidFill>
            <a:prstDash val="solid"/>
          </a:ln>
        </p:spPr>
      </p:sp>
      <p:sp>
        <p:nvSpPr>
          <p:cNvPr id="48" name="Shape 49"/>
          <p:cNvSpPr/>
          <p:nvPr/>
        </p:nvSpPr>
        <p:spPr>
          <a:xfrm>
            <a:off x="6592824" y="2624328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31F"/>
            </a:solidFill>
            <a:prstDash val="solid"/>
          </a:ln>
        </p:spPr>
      </p:sp>
      <p:sp>
        <p:nvSpPr>
          <p:cNvPr id="49" name="Shape 50"/>
          <p:cNvSpPr/>
          <p:nvPr/>
        </p:nvSpPr>
        <p:spPr>
          <a:xfrm>
            <a:off x="8970264" y="3447288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31F"/>
            </a:solidFill>
            <a:prstDash val="solid"/>
          </a:ln>
        </p:spPr>
      </p:sp>
      <p:sp>
        <p:nvSpPr>
          <p:cNvPr id="50" name="Shape 51"/>
          <p:cNvSpPr/>
          <p:nvPr/>
        </p:nvSpPr>
        <p:spPr>
          <a:xfrm>
            <a:off x="5404104" y="4270248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31F"/>
            </a:solidFill>
            <a:prstDash val="solid"/>
          </a:ln>
        </p:spPr>
      </p:sp>
      <p:sp>
        <p:nvSpPr>
          <p:cNvPr id="51" name="Shape 52"/>
          <p:cNvSpPr/>
          <p:nvPr/>
        </p:nvSpPr>
        <p:spPr>
          <a:xfrm>
            <a:off x="640080" y="5138928"/>
            <a:ext cx="10972800" cy="786384"/>
          </a:xfrm>
          <a:prstGeom prst="roundRect">
            <a:avLst/>
          </a:prstGeom>
          <a:solidFill>
            <a:srgbClr val="143244"/>
          </a:solidFill>
          <a:ln>
            <a:noFill/>
          </a:ln>
        </p:spPr>
      </p:sp>
      <p:sp>
        <p:nvSpPr>
          <p:cNvPr id="52" name="TextBox 53"/>
          <p:cNvSpPr txBox="1"/>
          <p:nvPr/>
        </p:nvSpPr>
        <p:spPr>
          <a:xfrm>
            <a:off x="868680" y="5358384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00" b="1">
                <a:solidFill>
                  <a:srgbClr val="B7F34A"/>
                </a:solidFill>
                <a:latin typeface="Aptos"/>
              </a:rPr>
              <a:t>BEST PILOT HYPOTHESIS</a:t>
            </a:r>
            <a:endParaRPr lang="en-US" sz="11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53" name="TextBox 54"/>
          <p:cNvSpPr txBox="1"/>
          <p:nvPr/>
        </p:nvSpPr>
        <p:spPr>
          <a:xfrm>
            <a:off x="2999232" y="5285232"/>
            <a:ext cx="81838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SCOOT 8 AI: predictive corridor coordination + controller retrofit—subject to interface audit and local validation.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4" name="TextBox 55"/>
          <p:cNvSpPr txBox="1"/>
          <p:nvPr/>
        </p:nvSpPr>
        <p:spPr>
          <a:xfrm>
            <a:off x="3337560" y="612648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50">
                <a:solidFill>
                  <a:srgbClr val="9DB3C2"/>
                </a:solidFill>
                <a:latin typeface="Aptos"/>
              </a:rPr>
              <a:t>Scores are an author assessment for the proposed Bengaluru corridor.</a:t>
            </a:r>
            <a:endParaRPr lang="en-US" sz="9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55" name="Shape 56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56" name="TextBox 57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Assessment based on published architecture, footprint and Bengaluru integration needs; it is not a vendor benchmark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57" name="TextBox 58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PROPOSED IMPLEMENTATION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Bengaluru pilot concept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16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pic>
        <p:nvPicPr>
          <p:cNvPr id="7" name="Picture 8"/>
          <p:cNvPicPr>
            <a:picLocks noChangeAspect="1"/>
          </p:cNvPicPr>
          <p:nvPr/>
        </p:nvPicPr>
        <p:blipFill>
          <a:blip r:embed="rId2"/>
          <a:srcRect l="4221" t="0" r="4221" b="0"/>
          <a:stretch>
            <a:fillRect/>
          </a:stretch>
        </p:blipFill>
        <p:spPr>
          <a:xfrm>
            <a:off x="566928" y="1234440"/>
            <a:ext cx="2148840" cy="3520440"/>
          </a:xfrm>
          <a:prstGeom prst="rect">
            <a:avLst/>
          </a:prstGeom>
          <a:ln>
            <a:noFill/>
          </a:ln>
        </p:spPr>
      </p:pic>
      <p:sp>
        <p:nvSpPr>
          <p:cNvPr id="8" name="Shape 9"/>
          <p:cNvSpPr/>
          <p:nvPr/>
        </p:nvSpPr>
        <p:spPr>
          <a:xfrm>
            <a:off x="566928" y="1234440"/>
            <a:ext cx="2148840" cy="3520440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pic>
        <p:nvPicPr>
          <p:cNvPr id="9" name="Picture 10"/>
          <p:cNvPicPr>
            <a:picLocks noChangeAspect="1"/>
          </p:cNvPicPr>
          <p:nvPr/>
        </p:nvPicPr>
        <p:blipFill>
          <a:blip r:embed="rId3"/>
          <a:srcRect l="1451" t="0" r="1451" b="0"/>
          <a:stretch>
            <a:fillRect/>
          </a:stretch>
        </p:blipFill>
        <p:spPr>
          <a:xfrm>
            <a:off x="2862072" y="1234440"/>
            <a:ext cx="2148840" cy="1664208"/>
          </a:xfrm>
          <a:prstGeom prst="rect">
            <a:avLst/>
          </a:prstGeom>
          <a:ln>
            <a:noFill/>
          </a:ln>
        </p:spPr>
      </p:pic>
      <p:sp>
        <p:nvSpPr>
          <p:cNvPr id="10" name="Shape 11"/>
          <p:cNvSpPr/>
          <p:nvPr/>
        </p:nvSpPr>
        <p:spPr>
          <a:xfrm>
            <a:off x="2862072" y="1234440"/>
            <a:ext cx="2148840" cy="1664208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pic>
        <p:nvPicPr>
          <p:cNvPr id="11" name="Picture 12"/>
          <p:cNvPicPr>
            <a:picLocks noChangeAspect="1"/>
          </p:cNvPicPr>
          <p:nvPr/>
        </p:nvPicPr>
        <p:blipFill>
          <a:blip r:embed="rId4"/>
          <a:srcRect l="1451" t="0" r="1451" b="0"/>
          <a:stretch>
            <a:fillRect/>
          </a:stretch>
        </p:blipFill>
        <p:spPr>
          <a:xfrm>
            <a:off x="2862072" y="3090672"/>
            <a:ext cx="2148840" cy="1664208"/>
          </a:xfrm>
          <a:prstGeom prst="rect">
            <a:avLst/>
          </a:prstGeom>
          <a:ln>
            <a:noFill/>
          </a:ln>
        </p:spPr>
      </p:pic>
      <p:sp>
        <p:nvSpPr>
          <p:cNvPr id="12" name="Shape 13"/>
          <p:cNvSpPr/>
          <p:nvPr/>
        </p:nvSpPr>
        <p:spPr>
          <a:xfrm>
            <a:off x="2862072" y="3090672"/>
            <a:ext cx="2148840" cy="1664208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pic>
        <p:nvPicPr>
          <p:cNvPr id="13" name="Picture 14"/>
          <p:cNvPicPr>
            <a:picLocks noChangeAspect="1"/>
          </p:cNvPicPr>
          <p:nvPr/>
        </p:nvPicPr>
        <p:blipFill>
          <a:blip r:embed="rId5"/>
          <a:srcRect l="0" t="29454" r="0" b="29454"/>
          <a:stretch>
            <a:fillRect/>
          </a:stretch>
        </p:blipFill>
        <p:spPr>
          <a:xfrm>
            <a:off x="566928" y="4937760"/>
            <a:ext cx="4443984" cy="1234440"/>
          </a:xfrm>
          <a:prstGeom prst="rect">
            <a:avLst/>
          </a:prstGeom>
          <a:ln>
            <a:noFill/>
          </a:ln>
        </p:spPr>
      </p:pic>
      <p:sp>
        <p:nvSpPr>
          <p:cNvPr id="14" name="Shape 15"/>
          <p:cNvSpPr/>
          <p:nvPr/>
        </p:nvSpPr>
        <p:spPr>
          <a:xfrm>
            <a:off x="566928" y="4937760"/>
            <a:ext cx="4443984" cy="1234440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sp>
        <p:nvSpPr>
          <p:cNvPr id="15" name="Shape 16"/>
          <p:cNvSpPr/>
          <p:nvPr/>
        </p:nvSpPr>
        <p:spPr>
          <a:xfrm>
            <a:off x="5330952" y="1234440"/>
            <a:ext cx="6272784" cy="4937760"/>
          </a:xfrm>
          <a:prstGeom prst="roundRect">
            <a:avLst/>
          </a:prstGeom>
          <a:solidFill>
            <a:srgbClr val="0E2332"/>
          </a:solidFill>
          <a:ln w="19050">
            <a:solidFill>
              <a:srgbClr val="B7F34A"/>
            </a:solidFill>
            <a:prstDash val="solid"/>
          </a:ln>
        </p:spPr>
      </p:sp>
      <p:sp>
        <p:nvSpPr>
          <p:cNvPr id="16" name="TextBox 17"/>
          <p:cNvSpPr txBox="1"/>
          <p:nvPr/>
        </p:nvSpPr>
        <p:spPr>
          <a:xfrm>
            <a:off x="5687568" y="1554480"/>
            <a:ext cx="4480560" cy="310896"/>
          </a:xfrm>
          <a:prstGeom prst="roundRect">
            <a:avLst/>
          </a:prstGeom>
          <a:solidFill>
            <a:srgbClr val="FFB547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ctr"/>
            <a:r>
              <a:rPr lang="en-US" sz="1050" b="1">
                <a:solidFill>
                  <a:srgbClr val="06111A"/>
                </a:solidFill>
                <a:latin typeface="Aptos"/>
              </a:rPr>
              <a:t>CONCEPT — NOT AN ANNOUNCED DEPLOYMENT</a:t>
            </a:r>
            <a:endParaRPr lang="en-US" sz="1050">
              <a:solidFill>
                <a:srgbClr val="06111A"/>
              </a:solidFill>
              <a:latin typeface="Aptos"/>
            </a:endParaRPr>
          </a:p>
        </p:txBody>
      </p:sp>
      <p:sp>
        <p:nvSpPr>
          <p:cNvPr id="17" name="TextBox 18"/>
          <p:cNvSpPr txBox="1"/>
          <p:nvPr/>
        </p:nvSpPr>
        <p:spPr>
          <a:xfrm>
            <a:off x="5669280" y="2194560"/>
            <a:ext cx="5440680" cy="987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700" b="1">
                <a:solidFill>
                  <a:srgbClr val="F4F8FB"/>
                </a:solidFill>
                <a:latin typeface="Aptos"/>
              </a:rPr>
              <a:t>PURPLE CORRIDOR</a:t>
            </a:r>
            <a:endParaRPr lang="en-US" sz="2700">
              <a:solidFill>
                <a:srgbClr val="F4F8FB"/>
              </a:solidFill>
              <a:latin typeface="Aptos"/>
            </a:endParaRPr>
          </a:p>
          <a:p>
            <a:pPr algn="ctr"/>
            <a:r>
              <a:rPr lang="en-US" sz="2700" b="1">
                <a:solidFill>
                  <a:srgbClr val="F4F8FB"/>
                </a:solidFill>
                <a:latin typeface="Aptos"/>
              </a:rPr>
              <a:t>SURFACE NETWORK</a:t>
            </a:r>
            <a:endParaRPr lang="en-US" sz="27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8" name="TextBox 19"/>
          <p:cNvSpPr txBox="1"/>
          <p:nvPr/>
        </p:nvSpPr>
        <p:spPr>
          <a:xfrm>
            <a:off x="5705856" y="3438144"/>
            <a:ext cx="537667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>
                <a:solidFill>
                  <a:srgbClr val="19D3B3"/>
                </a:solidFill>
                <a:latin typeface="Aptos"/>
              </a:rPr>
              <a:t>MG Road  →  Trinity  →  Halasuru  →  Indiranagar</a:t>
            </a:r>
            <a:endParaRPr lang="en-US" sz="14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19" name="Shape 20"/>
          <p:cNvSpPr/>
          <p:nvPr/>
        </p:nvSpPr>
        <p:spPr>
          <a:xfrm>
            <a:off x="5687568" y="4096512"/>
            <a:ext cx="1600200" cy="1298448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20" name="TextBox 21"/>
          <p:cNvSpPr txBox="1"/>
          <p:nvPr/>
        </p:nvSpPr>
        <p:spPr>
          <a:xfrm>
            <a:off x="5852160" y="4242816"/>
            <a:ext cx="1271016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B7F34A"/>
                </a:solidFill>
                <a:latin typeface="Aptos"/>
              </a:rPr>
              <a:t>8–12</a:t>
            </a:r>
            <a:endParaRPr lang="en-US" sz="28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21" name="TextBox 22"/>
          <p:cNvSpPr txBox="1"/>
          <p:nvPr/>
        </p:nvSpPr>
        <p:spPr>
          <a:xfrm>
            <a:off x="5852160" y="4855464"/>
            <a:ext cx="1271016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junctions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2" name="TextBox 23"/>
          <p:cNvSpPr txBox="1"/>
          <p:nvPr/>
        </p:nvSpPr>
        <p:spPr>
          <a:xfrm>
            <a:off x="5852160" y="4983480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30">
                <a:solidFill>
                  <a:srgbClr val="9DB3C2"/>
                </a:solidFill>
                <a:latin typeface="Aptos"/>
              </a:rPr>
              <a:t>after field audit</a:t>
            </a:r>
            <a:endParaRPr lang="en-US" sz="83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3" name="Shape 24"/>
          <p:cNvSpPr/>
          <p:nvPr/>
        </p:nvSpPr>
        <p:spPr>
          <a:xfrm>
            <a:off x="7479792" y="4096512"/>
            <a:ext cx="1600200" cy="1298448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24" name="TextBox 25"/>
          <p:cNvSpPr txBox="1"/>
          <p:nvPr/>
        </p:nvSpPr>
        <p:spPr>
          <a:xfrm>
            <a:off x="7644384" y="4242816"/>
            <a:ext cx="1271016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4EA1FF"/>
                </a:solidFill>
                <a:latin typeface="Aptos"/>
              </a:rPr>
              <a:t>26</a:t>
            </a:r>
            <a:endParaRPr lang="en-US" sz="2800">
              <a:solidFill>
                <a:srgbClr val="4EA1FF"/>
              </a:solidFill>
              <a:latin typeface="Aptos"/>
            </a:endParaRPr>
          </a:p>
        </p:txBody>
      </p:sp>
      <p:sp>
        <p:nvSpPr>
          <p:cNvPr id="25" name="TextBox 26"/>
          <p:cNvSpPr txBox="1"/>
          <p:nvPr/>
        </p:nvSpPr>
        <p:spPr>
          <a:xfrm>
            <a:off x="7644384" y="4855464"/>
            <a:ext cx="1271016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weeks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6" name="TextBox 27"/>
          <p:cNvSpPr txBox="1"/>
          <p:nvPr/>
        </p:nvSpPr>
        <p:spPr>
          <a:xfrm>
            <a:off x="7644384" y="4983480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30">
                <a:solidFill>
                  <a:srgbClr val="9DB3C2"/>
                </a:solidFill>
                <a:latin typeface="Aptos"/>
              </a:rPr>
              <a:t>baseline to review</a:t>
            </a:r>
            <a:endParaRPr lang="en-US" sz="83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7" name="Shape 28"/>
          <p:cNvSpPr/>
          <p:nvPr/>
        </p:nvSpPr>
        <p:spPr>
          <a:xfrm>
            <a:off x="9272016" y="4096512"/>
            <a:ext cx="1600200" cy="1298448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28" name="TextBox 29"/>
          <p:cNvSpPr txBox="1"/>
          <p:nvPr/>
        </p:nvSpPr>
        <p:spPr>
          <a:xfrm>
            <a:off x="9436608" y="4242816"/>
            <a:ext cx="1271016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FFB547"/>
                </a:solidFill>
                <a:latin typeface="Aptos"/>
              </a:rPr>
              <a:t>1</a:t>
            </a:r>
            <a:endParaRPr lang="en-US" sz="2800">
              <a:solidFill>
                <a:srgbClr val="FFB547"/>
              </a:solidFill>
              <a:latin typeface="Aptos"/>
            </a:endParaRPr>
          </a:p>
        </p:txBody>
      </p:sp>
      <p:sp>
        <p:nvSpPr>
          <p:cNvPr id="29" name="TextBox 30"/>
          <p:cNvSpPr txBox="1"/>
          <p:nvPr/>
        </p:nvSpPr>
        <p:spPr>
          <a:xfrm>
            <a:off x="9436608" y="4855464"/>
            <a:ext cx="1271016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4F8FB"/>
                </a:solidFill>
                <a:latin typeface="Aptos"/>
              </a:rPr>
              <a:t>corridor</a:t>
            </a:r>
            <a:endParaRPr lang="en-US" sz="12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30" name="TextBox 31"/>
          <p:cNvSpPr txBox="1"/>
          <p:nvPr/>
        </p:nvSpPr>
        <p:spPr>
          <a:xfrm>
            <a:off x="9436608" y="4983480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30">
                <a:solidFill>
                  <a:srgbClr val="9DB3C2"/>
                </a:solidFill>
                <a:latin typeface="Aptos"/>
              </a:rPr>
              <a:t>prove then scale</a:t>
            </a:r>
            <a:endParaRPr lang="en-US" sz="83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1" name="TextBox 32"/>
          <p:cNvSpPr txBox="1"/>
          <p:nvPr/>
        </p:nvSpPr>
        <p:spPr>
          <a:xfrm>
            <a:off x="5806440" y="5650992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50">
                <a:solidFill>
                  <a:srgbClr val="9DB3C2"/>
                </a:solidFill>
                <a:latin typeface="Aptos"/>
              </a:rPr>
              <a:t>Integrate with existing Bengaluru adaptive-control assets where interfaces permit.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2" name="Shape 33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33" name="TextBox 34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City visuals: Wikispeedia/Wikipedia archive • Existing context: Bengaluru Traffic Police ATCS and reported B-ATCS rollout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34" name="TextBox 35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BENGALURU CORRIDOR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Pilot architectural map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17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7" name="Shape 8"/>
          <p:cNvSpPr/>
          <p:nvPr/>
        </p:nvSpPr>
        <p:spPr>
          <a:xfrm>
            <a:off x="502920" y="1207008"/>
            <a:ext cx="11183112" cy="2971800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8" name="TextBox 9"/>
          <p:cNvSpPr txBox="1"/>
          <p:nvPr/>
        </p:nvSpPr>
        <p:spPr>
          <a:xfrm>
            <a:off x="731520" y="1426464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19D3B3"/>
                </a:solidFill>
                <a:latin typeface="Aptos"/>
              </a:rPr>
              <a:t>FIELD CORRIDOR</a:t>
            </a:r>
            <a:endParaRPr lang="en-US" sz="10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9" name="Shape 10"/>
          <p:cNvSpPr/>
          <p:nvPr/>
        </p:nvSpPr>
        <p:spPr>
          <a:xfrm>
            <a:off x="960120" y="2542032"/>
            <a:ext cx="7726680" cy="164592"/>
          </a:xfrm>
          <a:prstGeom prst="roundRect">
            <a:avLst/>
          </a:prstGeom>
          <a:solidFill>
            <a:srgbClr val="143244"/>
          </a:solidFill>
          <a:ln>
            <a:noFill/>
          </a:ln>
        </p:spPr>
      </p:sp>
      <p:sp>
        <p:nvSpPr>
          <p:cNvPr id="10" name="Shape 11"/>
          <p:cNvSpPr/>
          <p:nvPr/>
        </p:nvSpPr>
        <p:spPr>
          <a:xfrm>
            <a:off x="1874520" y="1874520"/>
            <a:ext cx="73152" cy="1554480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1" name="Shape 12"/>
          <p:cNvSpPr/>
          <p:nvPr/>
        </p:nvSpPr>
        <p:spPr>
          <a:xfrm>
            <a:off x="2926080" y="2057400"/>
            <a:ext cx="73152" cy="1554480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2" name="Shape 13"/>
          <p:cNvSpPr/>
          <p:nvPr/>
        </p:nvSpPr>
        <p:spPr>
          <a:xfrm>
            <a:off x="4023360" y="1874520"/>
            <a:ext cx="73152" cy="1554480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3" name="Shape 14"/>
          <p:cNvSpPr/>
          <p:nvPr/>
        </p:nvSpPr>
        <p:spPr>
          <a:xfrm>
            <a:off x="5212080" y="2057400"/>
            <a:ext cx="73152" cy="1554480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4" name="Shape 15"/>
          <p:cNvSpPr/>
          <p:nvPr/>
        </p:nvSpPr>
        <p:spPr>
          <a:xfrm>
            <a:off x="6263640" y="1874520"/>
            <a:ext cx="73152" cy="1554480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5" name="Shape 16"/>
          <p:cNvSpPr/>
          <p:nvPr/>
        </p:nvSpPr>
        <p:spPr>
          <a:xfrm>
            <a:off x="7360920" y="2057400"/>
            <a:ext cx="73152" cy="1554480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16" name="Shape 17"/>
          <p:cNvSpPr/>
          <p:nvPr/>
        </p:nvSpPr>
        <p:spPr>
          <a:xfrm>
            <a:off x="1188720" y="2212848"/>
            <a:ext cx="758952" cy="758952"/>
          </a:xfrm>
          <a:prstGeom prst="ellipse">
            <a:avLst/>
          </a:prstGeom>
          <a:solidFill>
            <a:srgbClr val="B7F34A"/>
          </a:solidFill>
          <a:ln w="12700">
            <a:solidFill>
              <a:srgbClr val="07131F"/>
            </a:solidFill>
            <a:prstDash val="solid"/>
          </a:ln>
        </p:spPr>
      </p:sp>
      <p:sp>
        <p:nvSpPr>
          <p:cNvPr id="17" name="TextBox 18"/>
          <p:cNvSpPr txBox="1"/>
          <p:nvPr/>
        </p:nvSpPr>
        <p:spPr>
          <a:xfrm>
            <a:off x="841248" y="31363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20" b="1">
                <a:solidFill>
                  <a:srgbClr val="F4F8FB"/>
                </a:solidFill>
                <a:latin typeface="Aptos"/>
              </a:rPr>
              <a:t>MG ROAD</a:t>
            </a:r>
            <a:endParaRPr lang="en-US" sz="92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8" name="TextBox 19"/>
          <p:cNvSpPr txBox="1"/>
          <p:nvPr/>
        </p:nvSpPr>
        <p:spPr>
          <a:xfrm>
            <a:off x="1188720" y="2212848"/>
            <a:ext cx="758952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06111A"/>
                </a:solidFill>
                <a:latin typeface="Aptos"/>
              </a:rPr>
              <a:t>S1</a:t>
            </a:r>
            <a:endParaRPr lang="en-US" sz="12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19" name="Shape 20"/>
          <p:cNvSpPr/>
          <p:nvPr/>
        </p:nvSpPr>
        <p:spPr>
          <a:xfrm>
            <a:off x="3246120" y="2212848"/>
            <a:ext cx="758952" cy="758952"/>
          </a:xfrm>
          <a:prstGeom prst="ellipse">
            <a:avLst/>
          </a:prstGeom>
          <a:solidFill>
            <a:srgbClr val="19D3B3"/>
          </a:solidFill>
          <a:ln w="12700">
            <a:solidFill>
              <a:srgbClr val="07131F"/>
            </a:solidFill>
            <a:prstDash val="solid"/>
          </a:ln>
        </p:spPr>
      </p:sp>
      <p:sp>
        <p:nvSpPr>
          <p:cNvPr id="20" name="TextBox 21"/>
          <p:cNvSpPr txBox="1"/>
          <p:nvPr/>
        </p:nvSpPr>
        <p:spPr>
          <a:xfrm>
            <a:off x="2898648" y="31363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20" b="1">
                <a:solidFill>
                  <a:srgbClr val="F4F8FB"/>
                </a:solidFill>
                <a:latin typeface="Aptos"/>
              </a:rPr>
              <a:t>TRINITY</a:t>
            </a:r>
            <a:endParaRPr lang="en-US" sz="92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1" name="TextBox 22"/>
          <p:cNvSpPr txBox="1"/>
          <p:nvPr/>
        </p:nvSpPr>
        <p:spPr>
          <a:xfrm>
            <a:off x="3246120" y="2212848"/>
            <a:ext cx="758952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06111A"/>
                </a:solidFill>
                <a:latin typeface="Aptos"/>
              </a:rPr>
              <a:t>S2</a:t>
            </a:r>
            <a:endParaRPr lang="en-US" sz="12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22" name="Shape 23"/>
          <p:cNvSpPr/>
          <p:nvPr/>
        </p:nvSpPr>
        <p:spPr>
          <a:xfrm>
            <a:off x="5440680" y="2212848"/>
            <a:ext cx="758952" cy="758952"/>
          </a:xfrm>
          <a:prstGeom prst="ellipse">
            <a:avLst/>
          </a:prstGeom>
          <a:solidFill>
            <a:srgbClr val="19D3B3"/>
          </a:solidFill>
          <a:ln w="12700">
            <a:solidFill>
              <a:srgbClr val="07131F"/>
            </a:solidFill>
            <a:prstDash val="solid"/>
          </a:ln>
        </p:spPr>
      </p:sp>
      <p:sp>
        <p:nvSpPr>
          <p:cNvPr id="23" name="TextBox 24"/>
          <p:cNvSpPr txBox="1"/>
          <p:nvPr/>
        </p:nvSpPr>
        <p:spPr>
          <a:xfrm>
            <a:off x="5093208" y="31363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20" b="1">
                <a:solidFill>
                  <a:srgbClr val="F4F8FB"/>
                </a:solidFill>
                <a:latin typeface="Aptos"/>
              </a:rPr>
              <a:t>HALASURU</a:t>
            </a:r>
            <a:endParaRPr lang="en-US" sz="92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4" name="TextBox 25"/>
          <p:cNvSpPr txBox="1"/>
          <p:nvPr/>
        </p:nvSpPr>
        <p:spPr>
          <a:xfrm>
            <a:off x="5440680" y="2212848"/>
            <a:ext cx="758952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06111A"/>
                </a:solidFill>
                <a:latin typeface="Aptos"/>
              </a:rPr>
              <a:t>S3</a:t>
            </a:r>
            <a:endParaRPr lang="en-US" sz="12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25" name="Shape 26"/>
          <p:cNvSpPr/>
          <p:nvPr/>
        </p:nvSpPr>
        <p:spPr>
          <a:xfrm>
            <a:off x="7498080" y="2212848"/>
            <a:ext cx="758952" cy="758952"/>
          </a:xfrm>
          <a:prstGeom prst="ellipse">
            <a:avLst/>
          </a:prstGeom>
          <a:solidFill>
            <a:srgbClr val="B7F34A"/>
          </a:solidFill>
          <a:ln w="12700">
            <a:solidFill>
              <a:srgbClr val="07131F"/>
            </a:solidFill>
            <a:prstDash val="solid"/>
          </a:ln>
        </p:spPr>
      </p:sp>
      <p:sp>
        <p:nvSpPr>
          <p:cNvPr id="26" name="TextBox 27"/>
          <p:cNvSpPr txBox="1"/>
          <p:nvPr/>
        </p:nvSpPr>
        <p:spPr>
          <a:xfrm>
            <a:off x="7150608" y="31363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20" b="1">
                <a:solidFill>
                  <a:srgbClr val="F4F8FB"/>
                </a:solidFill>
                <a:latin typeface="Aptos"/>
              </a:rPr>
              <a:t>INDIRANAGAR</a:t>
            </a:r>
            <a:endParaRPr lang="en-US" sz="92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7" name="TextBox 28"/>
          <p:cNvSpPr txBox="1"/>
          <p:nvPr/>
        </p:nvSpPr>
        <p:spPr>
          <a:xfrm>
            <a:off x="7498080" y="2212848"/>
            <a:ext cx="758952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06111A"/>
                </a:solidFill>
                <a:latin typeface="Aptos"/>
              </a:rPr>
              <a:t>S4</a:t>
            </a:r>
            <a:endParaRPr lang="en-US" sz="12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28" name="Shape 29"/>
          <p:cNvSpPr/>
          <p:nvPr/>
        </p:nvSpPr>
        <p:spPr>
          <a:xfrm>
            <a:off x="2468880" y="2441448"/>
            <a:ext cx="365760" cy="36576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</p:sp>
      <p:sp>
        <p:nvSpPr>
          <p:cNvPr id="29" name="TextBox 30"/>
          <p:cNvSpPr txBox="1"/>
          <p:nvPr/>
        </p:nvSpPr>
        <p:spPr>
          <a:xfrm>
            <a:off x="2468880" y="244144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 b="1">
                <a:solidFill>
                  <a:srgbClr val="06111A"/>
                </a:solidFill>
                <a:latin typeface="Aptos"/>
              </a:rPr>
              <a:t>J</a:t>
            </a:r>
            <a:endParaRPr lang="en-US" sz="8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30" name="Shape 31"/>
          <p:cNvSpPr/>
          <p:nvPr/>
        </p:nvSpPr>
        <p:spPr>
          <a:xfrm>
            <a:off x="4343400" y="2441448"/>
            <a:ext cx="365760" cy="36576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</p:sp>
      <p:sp>
        <p:nvSpPr>
          <p:cNvPr id="31" name="TextBox 32"/>
          <p:cNvSpPr txBox="1"/>
          <p:nvPr/>
        </p:nvSpPr>
        <p:spPr>
          <a:xfrm>
            <a:off x="4343400" y="244144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 b="1">
                <a:solidFill>
                  <a:srgbClr val="06111A"/>
                </a:solidFill>
                <a:latin typeface="Aptos"/>
              </a:rPr>
              <a:t>J</a:t>
            </a:r>
            <a:endParaRPr lang="en-US" sz="8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32" name="Shape 33"/>
          <p:cNvSpPr/>
          <p:nvPr/>
        </p:nvSpPr>
        <p:spPr>
          <a:xfrm>
            <a:off x="6537960" y="2441448"/>
            <a:ext cx="365760" cy="36576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</p:sp>
      <p:sp>
        <p:nvSpPr>
          <p:cNvPr id="33" name="TextBox 34"/>
          <p:cNvSpPr txBox="1"/>
          <p:nvPr/>
        </p:nvSpPr>
        <p:spPr>
          <a:xfrm>
            <a:off x="6537960" y="244144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 b="1">
                <a:solidFill>
                  <a:srgbClr val="06111A"/>
                </a:solidFill>
                <a:latin typeface="Aptos"/>
              </a:rPr>
              <a:t>J</a:t>
            </a:r>
            <a:endParaRPr lang="en-US" sz="8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34" name="Shape 35"/>
          <p:cNvSpPr/>
          <p:nvPr/>
        </p:nvSpPr>
        <p:spPr>
          <a:xfrm>
            <a:off x="8275320" y="2441448"/>
            <a:ext cx="365760" cy="36576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</p:sp>
      <p:sp>
        <p:nvSpPr>
          <p:cNvPr id="35" name="TextBox 36"/>
          <p:cNvSpPr txBox="1"/>
          <p:nvPr/>
        </p:nvSpPr>
        <p:spPr>
          <a:xfrm>
            <a:off x="8275320" y="244144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 b="1">
                <a:solidFill>
                  <a:srgbClr val="06111A"/>
                </a:solidFill>
                <a:latin typeface="Aptos"/>
              </a:rPr>
              <a:t>J</a:t>
            </a:r>
            <a:endParaRPr lang="en-US" sz="8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36" name="Shape 37"/>
          <p:cNvSpPr/>
          <p:nvPr/>
        </p:nvSpPr>
        <p:spPr>
          <a:xfrm>
            <a:off x="9144000" y="1600200"/>
            <a:ext cx="2011680" cy="1993392"/>
          </a:xfrm>
          <a:prstGeom prst="roundRect">
            <a:avLst/>
          </a:prstGeom>
          <a:solidFill>
            <a:srgbClr val="143244"/>
          </a:solidFill>
          <a:ln w="17780">
            <a:solidFill>
              <a:srgbClr val="4EA1FF"/>
            </a:solidFill>
            <a:prstDash val="solid"/>
          </a:ln>
        </p:spPr>
      </p:sp>
      <p:sp>
        <p:nvSpPr>
          <p:cNvPr id="37" name="TextBox 38"/>
          <p:cNvSpPr txBox="1"/>
          <p:nvPr/>
        </p:nvSpPr>
        <p:spPr>
          <a:xfrm>
            <a:off x="9354312" y="1847088"/>
            <a:ext cx="1591056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>
                <a:solidFill>
                  <a:srgbClr val="F4F8FB"/>
                </a:solidFill>
                <a:latin typeface="Aptos"/>
              </a:rPr>
              <a:t>TRAFFIC</a:t>
            </a:r>
            <a:endParaRPr lang="en-US" sz="1400">
              <a:solidFill>
                <a:srgbClr val="F4F8FB"/>
              </a:solidFill>
              <a:latin typeface="Aptos"/>
            </a:endParaRPr>
          </a:p>
          <a:p>
            <a:pPr algn="ctr"/>
            <a:r>
              <a:rPr lang="en-US" sz="1400" b="1">
                <a:solidFill>
                  <a:srgbClr val="F4F8FB"/>
                </a:solidFill>
                <a:latin typeface="Aptos"/>
              </a:rPr>
              <a:t>MANAGEMENT</a:t>
            </a:r>
            <a:endParaRPr lang="en-US" sz="1400">
              <a:solidFill>
                <a:srgbClr val="F4F8FB"/>
              </a:solidFill>
              <a:latin typeface="Aptos"/>
            </a:endParaRPr>
          </a:p>
          <a:p>
            <a:pPr algn="ctr"/>
            <a:r>
              <a:rPr lang="en-US" sz="1400" b="1">
                <a:solidFill>
                  <a:srgbClr val="F4F8FB"/>
                </a:solidFill>
                <a:latin typeface="Aptos"/>
              </a:rPr>
              <a:t>CENTRE</a:t>
            </a:r>
            <a:endParaRPr lang="en-US" sz="14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38" name="TextBox 39"/>
          <p:cNvSpPr txBox="1"/>
          <p:nvPr/>
        </p:nvSpPr>
        <p:spPr>
          <a:xfrm>
            <a:off x="9464040" y="2944368"/>
            <a:ext cx="1353312" cy="310896"/>
          </a:xfrm>
          <a:prstGeom prst="roundRect">
            <a:avLst/>
          </a:prstGeom>
          <a:solidFill>
            <a:srgbClr val="B7F34A"/>
          </a:solidFill>
          <a:ln>
            <a:noFill/>
          </a:ln>
        </p:spPr>
        <p:txBody>
          <a:bodyPr wrap="square" lIns="27432" tIns="27432" rIns="27432" bIns="27432" anchor="ctr"/>
          <a:lstStyle/>
          <a:p>
            <a:pPr algn="ctr"/>
            <a:r>
              <a:rPr lang="en-US" sz="1050" b="1">
                <a:solidFill>
                  <a:srgbClr val="06111A"/>
                </a:solidFill>
                <a:latin typeface="Aptos"/>
              </a:rPr>
              <a:t>SCOOT 8 AI</a:t>
            </a:r>
            <a:endParaRPr lang="en-US" sz="1050">
              <a:solidFill>
                <a:srgbClr val="06111A"/>
              </a:solidFill>
              <a:latin typeface="Aptos"/>
            </a:endParaRPr>
          </a:p>
        </p:txBody>
      </p:sp>
      <p:sp>
        <p:nvSpPr>
          <p:cNvPr id="39" name="Shape 40"/>
          <p:cNvSpPr/>
          <p:nvPr/>
        </p:nvSpPr>
        <p:spPr>
          <a:xfrm>
            <a:off x="8549640" y="2578608"/>
            <a:ext cx="411480" cy="54864"/>
          </a:xfrm>
          <a:prstGeom prst="roundRect">
            <a:avLst/>
          </a:prstGeom>
          <a:solidFill>
            <a:srgbClr val="4EA1FF"/>
          </a:solidFill>
          <a:ln>
            <a:noFill/>
          </a:ln>
        </p:spPr>
      </p:sp>
      <p:sp>
        <p:nvSpPr>
          <p:cNvPr id="40" name="Shape 41"/>
          <p:cNvSpPr/>
          <p:nvPr/>
        </p:nvSpPr>
        <p:spPr>
          <a:xfrm>
            <a:off x="8851392" y="2505456"/>
            <a:ext cx="164592" cy="201168"/>
          </a:xfrm>
          <a:prstGeom prst="chevron">
            <a:avLst/>
          </a:prstGeom>
          <a:solidFill>
            <a:srgbClr val="4EA1FF"/>
          </a:solidFill>
          <a:ln>
            <a:noFill/>
          </a:ln>
        </p:spPr>
      </p:sp>
      <p:sp>
        <p:nvSpPr>
          <p:cNvPr id="41" name="TextBox 42"/>
          <p:cNvSpPr txBox="1"/>
          <p:nvPr/>
        </p:nvSpPr>
        <p:spPr>
          <a:xfrm>
            <a:off x="7973568" y="1572768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50">
                <a:solidFill>
                  <a:srgbClr val="9DB3C2"/>
                </a:solidFill>
                <a:latin typeface="Aptos"/>
              </a:rPr>
              <a:t>secure IP / fibre / 4G</a:t>
            </a:r>
            <a:endParaRPr lang="en-US" sz="8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42" name="Shape 43"/>
          <p:cNvSpPr/>
          <p:nvPr/>
        </p:nvSpPr>
        <p:spPr>
          <a:xfrm>
            <a:off x="502920" y="4443984"/>
            <a:ext cx="2578608" cy="1444752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4EA1FF"/>
            </a:solidFill>
            <a:prstDash val="solid"/>
          </a:ln>
        </p:spPr>
      </p:sp>
      <p:sp>
        <p:nvSpPr>
          <p:cNvPr id="43" name="TextBox 44"/>
          <p:cNvSpPr txBox="1"/>
          <p:nvPr/>
        </p:nvSpPr>
        <p:spPr>
          <a:xfrm>
            <a:off x="649224" y="4617720"/>
            <a:ext cx="22860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>
                <a:solidFill>
                  <a:srgbClr val="4EA1FF"/>
                </a:solidFill>
                <a:latin typeface="Aptos"/>
              </a:rPr>
              <a:t>FIELD</a:t>
            </a:r>
            <a:endParaRPr lang="en-US" sz="1100">
              <a:solidFill>
                <a:srgbClr val="4EA1FF"/>
              </a:solidFill>
              <a:latin typeface="Aptos"/>
            </a:endParaRPr>
          </a:p>
        </p:txBody>
      </p:sp>
      <p:sp>
        <p:nvSpPr>
          <p:cNvPr id="44" name="TextBox 45"/>
          <p:cNvSpPr txBox="1"/>
          <p:nvPr/>
        </p:nvSpPr>
        <p:spPr>
          <a:xfrm>
            <a:off x="649224" y="502920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50">
                <a:solidFill>
                  <a:srgbClr val="F4F8FB"/>
                </a:solidFill>
                <a:latin typeface="Aptos"/>
              </a:rPr>
              <a:t>Cameras • loops • radar</a:t>
            </a:r>
            <a:endParaRPr lang="en-US" sz="950">
              <a:solidFill>
                <a:srgbClr val="F4F8FB"/>
              </a:solidFill>
              <a:latin typeface="Aptos"/>
            </a:endParaRPr>
          </a:p>
          <a:p>
            <a:pPr algn="ctr"/>
            <a:r>
              <a:rPr lang="en-US" sz="950">
                <a:solidFill>
                  <a:srgbClr val="F4F8FB"/>
                </a:solidFill>
                <a:latin typeface="Aptos"/>
              </a:rPr>
              <a:t>signals • UPS</a:t>
            </a:r>
            <a:endParaRPr lang="en-US" sz="9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45" name="Shape 46"/>
          <p:cNvSpPr/>
          <p:nvPr/>
        </p:nvSpPr>
        <p:spPr>
          <a:xfrm>
            <a:off x="3118104" y="5102352"/>
            <a:ext cx="164592" cy="54864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46" name="Shape 47"/>
          <p:cNvSpPr/>
          <p:nvPr/>
        </p:nvSpPr>
        <p:spPr>
          <a:xfrm>
            <a:off x="3172968" y="5029200"/>
            <a:ext cx="164592" cy="201168"/>
          </a:xfrm>
          <a:prstGeom prst="chevron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47" name="Shape 48"/>
          <p:cNvSpPr/>
          <p:nvPr/>
        </p:nvSpPr>
        <p:spPr>
          <a:xfrm>
            <a:off x="3236976" y="4443984"/>
            <a:ext cx="2578608" cy="1444752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48" name="TextBox 49"/>
          <p:cNvSpPr txBox="1"/>
          <p:nvPr/>
        </p:nvSpPr>
        <p:spPr>
          <a:xfrm>
            <a:off x="3383280" y="4617720"/>
            <a:ext cx="22860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>
                <a:solidFill>
                  <a:srgbClr val="FFB547"/>
                </a:solidFill>
                <a:latin typeface="Aptos"/>
              </a:rPr>
              <a:t>GATEWAY</a:t>
            </a:r>
            <a:endParaRPr lang="en-US" sz="1100">
              <a:solidFill>
                <a:srgbClr val="FFB547"/>
              </a:solidFill>
              <a:latin typeface="Aptos"/>
            </a:endParaRPr>
          </a:p>
        </p:txBody>
      </p:sp>
      <p:sp>
        <p:nvSpPr>
          <p:cNvPr id="49" name="TextBox 50"/>
          <p:cNvSpPr txBox="1"/>
          <p:nvPr/>
        </p:nvSpPr>
        <p:spPr>
          <a:xfrm>
            <a:off x="3383280" y="502920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50">
                <a:solidFill>
                  <a:srgbClr val="F4F8FB"/>
                </a:solidFill>
                <a:latin typeface="Aptos"/>
              </a:rPr>
              <a:t>Existing B-ATCS interface</a:t>
            </a:r>
            <a:endParaRPr lang="en-US" sz="950">
              <a:solidFill>
                <a:srgbClr val="F4F8FB"/>
              </a:solidFill>
              <a:latin typeface="Aptos"/>
            </a:endParaRPr>
          </a:p>
          <a:p>
            <a:pPr algn="ctr"/>
            <a:r>
              <a:rPr lang="en-US" sz="950">
                <a:solidFill>
                  <a:srgbClr val="F4F8FB"/>
                </a:solidFill>
                <a:latin typeface="Aptos"/>
              </a:rPr>
              <a:t>protocol + health checks</a:t>
            </a:r>
            <a:endParaRPr lang="en-US" sz="9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0" name="Shape 51"/>
          <p:cNvSpPr/>
          <p:nvPr/>
        </p:nvSpPr>
        <p:spPr>
          <a:xfrm>
            <a:off x="5852160" y="5102352"/>
            <a:ext cx="164592" cy="54864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51" name="Shape 52"/>
          <p:cNvSpPr/>
          <p:nvPr/>
        </p:nvSpPr>
        <p:spPr>
          <a:xfrm>
            <a:off x="5907024" y="5029200"/>
            <a:ext cx="164592" cy="201168"/>
          </a:xfrm>
          <a:prstGeom prst="chevron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52" name="Shape 53"/>
          <p:cNvSpPr/>
          <p:nvPr/>
        </p:nvSpPr>
        <p:spPr>
          <a:xfrm>
            <a:off x="5971032" y="4443984"/>
            <a:ext cx="2578608" cy="1444752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Box 54"/>
          <p:cNvSpPr txBox="1"/>
          <p:nvPr/>
        </p:nvSpPr>
        <p:spPr>
          <a:xfrm>
            <a:off x="6117336" y="4617720"/>
            <a:ext cx="22860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>
                <a:solidFill>
                  <a:srgbClr val="A78BFA"/>
                </a:solidFill>
                <a:latin typeface="Aptos"/>
              </a:rPr>
              <a:t>PLATFORM</a:t>
            </a:r>
            <a:endParaRPr lang="en-US" sz="1100">
              <a:solidFill>
                <a:srgbClr val="A78BFA"/>
              </a:solidFill>
              <a:latin typeface="Aptos"/>
            </a:endParaRPr>
          </a:p>
        </p:txBody>
      </p:sp>
      <p:sp>
        <p:nvSpPr>
          <p:cNvPr id="54" name="TextBox 55"/>
          <p:cNvSpPr txBox="1"/>
          <p:nvPr/>
        </p:nvSpPr>
        <p:spPr>
          <a:xfrm>
            <a:off x="6117336" y="502920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50">
                <a:solidFill>
                  <a:srgbClr val="F4F8FB"/>
                </a:solidFill>
                <a:latin typeface="Aptos"/>
              </a:rPr>
              <a:t>Model • forecast • optimise</a:t>
            </a:r>
            <a:endParaRPr lang="en-US" sz="950">
              <a:solidFill>
                <a:srgbClr val="F4F8FB"/>
              </a:solidFill>
              <a:latin typeface="Aptos"/>
            </a:endParaRPr>
          </a:p>
          <a:p>
            <a:pPr algn="ctr"/>
            <a:r>
              <a:rPr lang="en-US" sz="950">
                <a:solidFill>
                  <a:srgbClr val="F4F8FB"/>
                </a:solidFill>
                <a:latin typeface="Aptos"/>
              </a:rPr>
              <a:t>logs + safe fallback</a:t>
            </a:r>
            <a:endParaRPr lang="en-US" sz="9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5" name="Shape 56"/>
          <p:cNvSpPr/>
          <p:nvPr/>
        </p:nvSpPr>
        <p:spPr>
          <a:xfrm>
            <a:off x="8586216" y="5102352"/>
            <a:ext cx="164592" cy="54864"/>
          </a:xfrm>
          <a:prstGeom prst="round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56" name="Shape 57"/>
          <p:cNvSpPr/>
          <p:nvPr/>
        </p:nvSpPr>
        <p:spPr>
          <a:xfrm>
            <a:off x="8641080" y="5029200"/>
            <a:ext cx="164592" cy="201168"/>
          </a:xfrm>
          <a:prstGeom prst="chevron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57" name="Shape 58"/>
          <p:cNvSpPr/>
          <p:nvPr/>
        </p:nvSpPr>
        <p:spPr>
          <a:xfrm>
            <a:off x="8705088" y="4443984"/>
            <a:ext cx="2980944" cy="1444752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B7F34A"/>
            </a:solidFill>
            <a:prstDash val="solid"/>
          </a:ln>
        </p:spPr>
      </p:sp>
      <p:sp>
        <p:nvSpPr>
          <p:cNvPr id="58" name="TextBox 59"/>
          <p:cNvSpPr txBox="1"/>
          <p:nvPr/>
        </p:nvSpPr>
        <p:spPr>
          <a:xfrm>
            <a:off x="8851392" y="4617720"/>
            <a:ext cx="2688336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>
                <a:solidFill>
                  <a:srgbClr val="B7F34A"/>
                </a:solidFill>
                <a:latin typeface="Aptos"/>
              </a:rPr>
              <a:t>USERS</a:t>
            </a:r>
            <a:endParaRPr lang="en-US" sz="11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59" name="TextBox 60"/>
          <p:cNvSpPr txBox="1"/>
          <p:nvPr/>
        </p:nvSpPr>
        <p:spPr>
          <a:xfrm>
            <a:off x="8851392" y="5029200"/>
            <a:ext cx="2688336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50">
                <a:solidFill>
                  <a:srgbClr val="F4F8FB"/>
                </a:solidFill>
                <a:latin typeface="Aptos"/>
              </a:rPr>
              <a:t>TMC • traffic police • BMTC</a:t>
            </a:r>
            <a:endParaRPr lang="en-US" sz="950">
              <a:solidFill>
                <a:srgbClr val="F4F8FB"/>
              </a:solidFill>
              <a:latin typeface="Aptos"/>
            </a:endParaRPr>
          </a:p>
          <a:p>
            <a:pPr algn="ctr"/>
            <a:r>
              <a:rPr lang="en-US" sz="950">
                <a:solidFill>
                  <a:srgbClr val="F4F8FB"/>
                </a:solidFill>
                <a:latin typeface="Aptos"/>
              </a:rPr>
              <a:t>dashboards + traveller data</a:t>
            </a:r>
            <a:endParaRPr lang="en-US" sz="9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60" name="TextBox 61"/>
          <p:cNvSpPr txBox="1"/>
          <p:nvPr/>
        </p:nvSpPr>
        <p:spPr>
          <a:xfrm>
            <a:off x="1920240" y="6108192"/>
            <a:ext cx="83667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50">
                <a:solidFill>
                  <a:srgbClr val="9DB3C2"/>
                </a:solidFill>
                <a:latin typeface="Aptos"/>
              </a:rPr>
              <a:t>Conceptual architecture — controller protocol, junction count and exact route require field survey.</a:t>
            </a:r>
            <a:endParaRPr lang="en-US" sz="9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1" name="Shape 62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62" name="TextBox 63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Architecture authored for this presentation using TRL/FHWA system descriptions and Bengaluru ATCS context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63" name="TextBox 64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PILOT DELIVERY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Implementation roadmap: 26 weeks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18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7" name="Shape 8"/>
          <p:cNvSpPr/>
          <p:nvPr/>
        </p:nvSpPr>
        <p:spPr>
          <a:xfrm>
            <a:off x="566928" y="1335024"/>
            <a:ext cx="2523744" cy="2971800"/>
          </a:xfrm>
          <a:prstGeom prst="roundRect">
            <a:avLst/>
          </a:prstGeom>
          <a:solidFill>
            <a:srgbClr val="0E2332"/>
          </a:solidFill>
          <a:ln w="16510">
            <a:solidFill>
              <a:srgbClr val="4EA1FF"/>
            </a:solidFill>
            <a:prstDash val="solid"/>
          </a:ln>
        </p:spPr>
      </p:sp>
      <p:sp>
        <p:nvSpPr>
          <p:cNvPr id="8" name="Shape 9"/>
          <p:cNvSpPr/>
          <p:nvPr/>
        </p:nvSpPr>
        <p:spPr>
          <a:xfrm>
            <a:off x="768096" y="1554480"/>
            <a:ext cx="530352" cy="530352"/>
          </a:xfrm>
          <a:prstGeom prst="ellipse">
            <a:avLst/>
          </a:prstGeom>
          <a:solidFill>
            <a:srgbClr val="4EA1FF"/>
          </a:solidFill>
          <a:ln>
            <a:noFill/>
          </a:ln>
        </p:spPr>
      </p:sp>
      <p:sp>
        <p:nvSpPr>
          <p:cNvPr id="9" name="TextBox 10"/>
          <p:cNvSpPr txBox="1"/>
          <p:nvPr/>
        </p:nvSpPr>
        <p:spPr>
          <a:xfrm>
            <a:off x="768096" y="15544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>
                <a:solidFill>
                  <a:srgbClr val="06111A"/>
                </a:solidFill>
                <a:latin typeface="Aptos"/>
              </a:rPr>
              <a:t>0</a:t>
            </a:r>
            <a:endParaRPr lang="en-US" sz="14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749808" y="2286000"/>
            <a:ext cx="215798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500" b="1">
                <a:solidFill>
                  <a:srgbClr val="F4F8FB"/>
                </a:solidFill>
                <a:latin typeface="Aptos"/>
              </a:rPr>
              <a:t>BASELINE</a:t>
            </a:r>
            <a:endParaRPr lang="en-US" sz="1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1" name="TextBox 12"/>
          <p:cNvSpPr txBox="1"/>
          <p:nvPr/>
        </p:nvSpPr>
        <p:spPr>
          <a:xfrm>
            <a:off x="749808" y="2761488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>
                <a:solidFill>
                  <a:srgbClr val="4EA1FF"/>
                </a:solidFill>
                <a:latin typeface="Aptos"/>
              </a:rPr>
              <a:t>4 weeks</a:t>
            </a:r>
            <a:endParaRPr lang="en-US" sz="1100">
              <a:solidFill>
                <a:srgbClr val="4EA1FF"/>
              </a:solidFill>
              <a:latin typeface="Aptos"/>
            </a:endParaRPr>
          </a:p>
        </p:txBody>
      </p:sp>
      <p:sp>
        <p:nvSpPr>
          <p:cNvPr id="12" name="TextBox 13"/>
          <p:cNvSpPr txBox="1"/>
          <p:nvPr/>
        </p:nvSpPr>
        <p:spPr>
          <a:xfrm>
            <a:off x="804672" y="3255264"/>
            <a:ext cx="2048256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20">
                <a:solidFill>
                  <a:srgbClr val="9DB3C2"/>
                </a:solidFill>
                <a:latin typeface="Aptos"/>
              </a:rPr>
              <a:t>Audit controllers</a:t>
            </a:r>
            <a:endParaRPr lang="en-US" sz="1020">
              <a:solidFill>
                <a:srgbClr val="9DB3C2"/>
              </a:solidFill>
              <a:latin typeface="Aptos"/>
            </a:endParaRPr>
          </a:p>
          <a:p>
            <a:pPr algn="ctr"/>
            <a:r>
              <a:rPr lang="en-US" sz="1020">
                <a:solidFill>
                  <a:srgbClr val="9DB3C2"/>
                </a:solidFill>
                <a:latin typeface="Aptos"/>
              </a:rPr>
              <a:t>Collect travel-time + stop data</a:t>
            </a:r>
            <a:endParaRPr lang="en-US" sz="102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3" name="Shape 14"/>
          <p:cNvSpPr/>
          <p:nvPr/>
        </p:nvSpPr>
        <p:spPr>
          <a:xfrm>
            <a:off x="3255264" y="1335024"/>
            <a:ext cx="2523744" cy="2971800"/>
          </a:xfrm>
          <a:prstGeom prst="roundRect">
            <a:avLst/>
          </a:prstGeom>
          <a:solidFill>
            <a:srgbClr val="0E2332"/>
          </a:solidFill>
          <a:ln w="16510">
            <a:solidFill>
              <a:srgbClr val="A78BFA"/>
            </a:solidFill>
            <a:prstDash val="solid"/>
          </a:ln>
        </p:spPr>
      </p:sp>
      <p:sp>
        <p:nvSpPr>
          <p:cNvPr id="14" name="Shape 15"/>
          <p:cNvSpPr/>
          <p:nvPr/>
        </p:nvSpPr>
        <p:spPr>
          <a:xfrm>
            <a:off x="3456432" y="1554480"/>
            <a:ext cx="530352" cy="53035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5" name="TextBox 16"/>
          <p:cNvSpPr txBox="1"/>
          <p:nvPr/>
        </p:nvSpPr>
        <p:spPr>
          <a:xfrm>
            <a:off x="3456432" y="15544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>
                <a:solidFill>
                  <a:srgbClr val="06111A"/>
                </a:solidFill>
                <a:latin typeface="Aptos"/>
              </a:rPr>
              <a:t>1</a:t>
            </a:r>
            <a:endParaRPr lang="en-US" sz="14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16" name="TextBox 17"/>
          <p:cNvSpPr txBox="1"/>
          <p:nvPr/>
        </p:nvSpPr>
        <p:spPr>
          <a:xfrm>
            <a:off x="3438144" y="2286000"/>
            <a:ext cx="215798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500" b="1">
                <a:solidFill>
                  <a:srgbClr val="F4F8FB"/>
                </a:solidFill>
                <a:latin typeface="Aptos"/>
              </a:rPr>
              <a:t>SHADOW MODEL</a:t>
            </a:r>
            <a:endParaRPr lang="en-US" sz="1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7" name="TextBox 18"/>
          <p:cNvSpPr txBox="1"/>
          <p:nvPr/>
        </p:nvSpPr>
        <p:spPr>
          <a:xfrm>
            <a:off x="3438144" y="2761488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>
                <a:solidFill>
                  <a:srgbClr val="A78BFA"/>
                </a:solidFill>
                <a:latin typeface="Aptos"/>
              </a:rPr>
              <a:t>6 weeks</a:t>
            </a:r>
            <a:endParaRPr lang="en-US" sz="1100">
              <a:solidFill>
                <a:srgbClr val="A78BFA"/>
              </a:solidFill>
              <a:latin typeface="Aptos"/>
            </a:endParaRPr>
          </a:p>
        </p:txBody>
      </p:sp>
      <p:sp>
        <p:nvSpPr>
          <p:cNvPr id="18" name="TextBox 19"/>
          <p:cNvSpPr txBox="1"/>
          <p:nvPr/>
        </p:nvSpPr>
        <p:spPr>
          <a:xfrm>
            <a:off x="3493008" y="3255264"/>
            <a:ext cx="2048256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20">
                <a:solidFill>
                  <a:srgbClr val="9DB3C2"/>
                </a:solidFill>
                <a:latin typeface="Aptos"/>
              </a:rPr>
              <a:t>Build network model</a:t>
            </a:r>
            <a:endParaRPr lang="en-US" sz="1020">
              <a:solidFill>
                <a:srgbClr val="9DB3C2"/>
              </a:solidFill>
              <a:latin typeface="Aptos"/>
            </a:endParaRPr>
          </a:p>
          <a:p>
            <a:pPr algn="ctr"/>
            <a:r>
              <a:rPr lang="en-US" sz="1020">
                <a:solidFill>
                  <a:srgbClr val="9DB3C2"/>
                </a:solidFill>
                <a:latin typeface="Aptos"/>
              </a:rPr>
              <a:t>Run offline; calibrate</a:t>
            </a:r>
            <a:endParaRPr lang="en-US" sz="102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9" name="Shape 20"/>
          <p:cNvSpPr/>
          <p:nvPr/>
        </p:nvSpPr>
        <p:spPr>
          <a:xfrm>
            <a:off x="5943600" y="1335024"/>
            <a:ext cx="2523744" cy="2971800"/>
          </a:xfrm>
          <a:prstGeom prst="roundRect">
            <a:avLst/>
          </a:prstGeom>
          <a:solidFill>
            <a:srgbClr val="0E2332"/>
          </a:solidFill>
          <a:ln w="16510">
            <a:solidFill>
              <a:srgbClr val="B7F34A"/>
            </a:solidFill>
            <a:prstDash val="solid"/>
          </a:ln>
        </p:spPr>
      </p:sp>
      <p:sp>
        <p:nvSpPr>
          <p:cNvPr id="20" name="Shape 21"/>
          <p:cNvSpPr/>
          <p:nvPr/>
        </p:nvSpPr>
        <p:spPr>
          <a:xfrm>
            <a:off x="6144768" y="1554480"/>
            <a:ext cx="530352" cy="530352"/>
          </a:xfrm>
          <a:prstGeom prst="ellipse">
            <a:avLst/>
          </a:prstGeom>
          <a:solidFill>
            <a:srgbClr val="B7F34A"/>
          </a:solidFill>
          <a:ln>
            <a:noFill/>
          </a:ln>
        </p:spPr>
      </p:sp>
      <p:sp>
        <p:nvSpPr>
          <p:cNvPr id="21" name="TextBox 22"/>
          <p:cNvSpPr txBox="1"/>
          <p:nvPr/>
        </p:nvSpPr>
        <p:spPr>
          <a:xfrm>
            <a:off x="6144768" y="15544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>
                <a:solidFill>
                  <a:srgbClr val="06111A"/>
                </a:solidFill>
                <a:latin typeface="Aptos"/>
              </a:rPr>
              <a:t>2</a:t>
            </a:r>
            <a:endParaRPr lang="en-US" sz="14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22" name="TextBox 23"/>
          <p:cNvSpPr txBox="1"/>
          <p:nvPr/>
        </p:nvSpPr>
        <p:spPr>
          <a:xfrm>
            <a:off x="6126480" y="2286000"/>
            <a:ext cx="215798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500" b="1">
                <a:solidFill>
                  <a:srgbClr val="F4F8FB"/>
                </a:solidFill>
                <a:latin typeface="Aptos"/>
              </a:rPr>
              <a:t>LIVE PILOT</a:t>
            </a:r>
            <a:endParaRPr lang="en-US" sz="1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3" name="TextBox 24"/>
          <p:cNvSpPr txBox="1"/>
          <p:nvPr/>
        </p:nvSpPr>
        <p:spPr>
          <a:xfrm>
            <a:off x="6126480" y="2761488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>
                <a:solidFill>
                  <a:srgbClr val="B7F34A"/>
                </a:solidFill>
                <a:latin typeface="Aptos"/>
              </a:rPr>
              <a:t>12 weeks</a:t>
            </a:r>
            <a:endParaRPr lang="en-US" sz="11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24" name="TextBox 25"/>
          <p:cNvSpPr txBox="1"/>
          <p:nvPr/>
        </p:nvSpPr>
        <p:spPr>
          <a:xfrm>
            <a:off x="6181344" y="3255264"/>
            <a:ext cx="2048256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20">
                <a:solidFill>
                  <a:srgbClr val="9DB3C2"/>
                </a:solidFill>
                <a:latin typeface="Aptos"/>
              </a:rPr>
              <a:t>Controlled activation</a:t>
            </a:r>
            <a:endParaRPr lang="en-US" sz="1020">
              <a:solidFill>
                <a:srgbClr val="9DB3C2"/>
              </a:solidFill>
              <a:latin typeface="Aptos"/>
            </a:endParaRPr>
          </a:p>
          <a:p>
            <a:pPr algn="ctr"/>
            <a:r>
              <a:rPr lang="en-US" sz="1020">
                <a:solidFill>
                  <a:srgbClr val="9DB3C2"/>
                </a:solidFill>
                <a:latin typeface="Aptos"/>
              </a:rPr>
              <a:t>Daily health review</a:t>
            </a:r>
            <a:endParaRPr lang="en-US" sz="102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5" name="Shape 26"/>
          <p:cNvSpPr/>
          <p:nvPr/>
        </p:nvSpPr>
        <p:spPr>
          <a:xfrm>
            <a:off x="8631936" y="1335024"/>
            <a:ext cx="2523744" cy="2971800"/>
          </a:xfrm>
          <a:prstGeom prst="roundRect">
            <a:avLst/>
          </a:prstGeom>
          <a:solidFill>
            <a:srgbClr val="0E2332"/>
          </a:solidFill>
          <a:ln w="16510">
            <a:solidFill>
              <a:srgbClr val="FFB547"/>
            </a:solidFill>
            <a:prstDash val="solid"/>
          </a:ln>
        </p:spPr>
      </p:sp>
      <p:sp>
        <p:nvSpPr>
          <p:cNvPr id="26" name="Shape 27"/>
          <p:cNvSpPr/>
          <p:nvPr/>
        </p:nvSpPr>
        <p:spPr>
          <a:xfrm>
            <a:off x="8833104" y="1554480"/>
            <a:ext cx="530352" cy="530352"/>
          </a:xfrm>
          <a:prstGeom prst="ellipse">
            <a:avLst/>
          </a:prstGeom>
          <a:solidFill>
            <a:srgbClr val="FFB547"/>
          </a:solidFill>
          <a:ln>
            <a:noFill/>
          </a:ln>
        </p:spPr>
      </p:sp>
      <p:sp>
        <p:nvSpPr>
          <p:cNvPr id="27" name="TextBox 28"/>
          <p:cNvSpPr txBox="1"/>
          <p:nvPr/>
        </p:nvSpPr>
        <p:spPr>
          <a:xfrm>
            <a:off x="8833104" y="15544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>
                <a:solidFill>
                  <a:srgbClr val="06111A"/>
                </a:solidFill>
                <a:latin typeface="Aptos"/>
              </a:rPr>
              <a:t>3</a:t>
            </a:r>
            <a:endParaRPr lang="en-US" sz="1400">
              <a:solidFill>
                <a:srgbClr val="06111A"/>
              </a:solidFill>
              <a:latin typeface="Aptos"/>
            </a:endParaRPr>
          </a:p>
        </p:txBody>
      </p:sp>
      <p:sp>
        <p:nvSpPr>
          <p:cNvPr id="28" name="TextBox 29"/>
          <p:cNvSpPr txBox="1"/>
          <p:nvPr/>
        </p:nvSpPr>
        <p:spPr>
          <a:xfrm>
            <a:off x="8814816" y="2286000"/>
            <a:ext cx="215798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500" b="1">
                <a:solidFill>
                  <a:srgbClr val="F4F8FB"/>
                </a:solidFill>
                <a:latin typeface="Aptos"/>
              </a:rPr>
              <a:t>EVALUATE</a:t>
            </a:r>
            <a:endParaRPr lang="en-US" sz="1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9" name="TextBox 30"/>
          <p:cNvSpPr txBox="1"/>
          <p:nvPr/>
        </p:nvSpPr>
        <p:spPr>
          <a:xfrm>
            <a:off x="8814816" y="2761488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>
                <a:solidFill>
                  <a:srgbClr val="FFB547"/>
                </a:solidFill>
                <a:latin typeface="Aptos"/>
              </a:rPr>
              <a:t>4 weeks</a:t>
            </a:r>
            <a:endParaRPr lang="en-US" sz="1100">
              <a:solidFill>
                <a:srgbClr val="FFB547"/>
              </a:solidFill>
              <a:latin typeface="Aptos"/>
            </a:endParaRPr>
          </a:p>
        </p:txBody>
      </p:sp>
      <p:sp>
        <p:nvSpPr>
          <p:cNvPr id="30" name="TextBox 31"/>
          <p:cNvSpPr txBox="1"/>
          <p:nvPr/>
        </p:nvSpPr>
        <p:spPr>
          <a:xfrm>
            <a:off x="8869680" y="3255264"/>
            <a:ext cx="2048256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20">
                <a:solidFill>
                  <a:srgbClr val="9DB3C2"/>
                </a:solidFill>
                <a:latin typeface="Aptos"/>
              </a:rPr>
              <a:t>Before/after analysis</a:t>
            </a:r>
            <a:endParaRPr lang="en-US" sz="1020">
              <a:solidFill>
                <a:srgbClr val="9DB3C2"/>
              </a:solidFill>
              <a:latin typeface="Aptos"/>
            </a:endParaRPr>
          </a:p>
          <a:p>
            <a:pPr algn="ctr"/>
            <a:r>
              <a:rPr lang="en-US" sz="1020">
                <a:solidFill>
                  <a:srgbClr val="9DB3C2"/>
                </a:solidFill>
                <a:latin typeface="Aptos"/>
              </a:rPr>
              <a:t>Scale or revise</a:t>
            </a:r>
            <a:endParaRPr lang="en-US" sz="102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1" name="TextBox 32"/>
          <p:cNvSpPr txBox="1"/>
          <p:nvPr/>
        </p:nvSpPr>
        <p:spPr>
          <a:xfrm>
            <a:off x="667512" y="46085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1">
                <a:solidFill>
                  <a:srgbClr val="19D3B3"/>
                </a:solidFill>
                <a:latin typeface="Aptos"/>
              </a:rPr>
              <a:t>PROPOSED SUCCESS THRESHOLDS</a:t>
            </a:r>
            <a:endParaRPr lang="en-US" sz="1050">
              <a:solidFill>
                <a:srgbClr val="19D3B3"/>
              </a:solidFill>
              <a:latin typeface="Aptos"/>
            </a:endParaRPr>
          </a:p>
        </p:txBody>
      </p:sp>
      <p:sp>
        <p:nvSpPr>
          <p:cNvPr id="32" name="TextBox 33"/>
          <p:cNvSpPr txBox="1"/>
          <p:nvPr/>
        </p:nvSpPr>
        <p:spPr>
          <a:xfrm>
            <a:off x="658368" y="499262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900" b="1">
                <a:solidFill>
                  <a:srgbClr val="B7F34A"/>
                </a:solidFill>
                <a:latin typeface="Aptos"/>
              </a:rPr>
              <a:t>–10%</a:t>
            </a:r>
            <a:endParaRPr lang="en-US" sz="19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33" name="TextBox 34"/>
          <p:cNvSpPr txBox="1"/>
          <p:nvPr/>
        </p:nvSpPr>
        <p:spPr>
          <a:xfrm>
            <a:off x="1463040" y="501091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50" b="1">
                <a:solidFill>
                  <a:srgbClr val="F4F8FB"/>
                </a:solidFill>
                <a:latin typeface="Aptos"/>
              </a:rPr>
              <a:t>median corridor time</a:t>
            </a:r>
            <a:endParaRPr lang="en-US" sz="9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34" name="TextBox 35"/>
          <p:cNvSpPr txBox="1"/>
          <p:nvPr/>
        </p:nvSpPr>
        <p:spPr>
          <a:xfrm>
            <a:off x="3401568" y="499262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900" b="1">
                <a:solidFill>
                  <a:srgbClr val="19D3B3"/>
                </a:solidFill>
                <a:latin typeface="Aptos"/>
              </a:rPr>
              <a:t>–10%</a:t>
            </a:r>
            <a:endParaRPr lang="en-US" sz="1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35" name="TextBox 36"/>
          <p:cNvSpPr txBox="1"/>
          <p:nvPr/>
        </p:nvSpPr>
        <p:spPr>
          <a:xfrm>
            <a:off x="4206240" y="501091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50" b="1">
                <a:solidFill>
                  <a:srgbClr val="F4F8FB"/>
                </a:solidFill>
                <a:latin typeface="Aptos"/>
              </a:rPr>
              <a:t>stops</a:t>
            </a:r>
            <a:endParaRPr lang="en-US" sz="9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36" name="TextBox 37"/>
          <p:cNvSpPr txBox="1"/>
          <p:nvPr/>
        </p:nvSpPr>
        <p:spPr>
          <a:xfrm>
            <a:off x="6144768" y="499262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900" b="1">
                <a:solidFill>
                  <a:srgbClr val="4EA1FF"/>
                </a:solidFill>
                <a:latin typeface="Aptos"/>
              </a:rPr>
              <a:t>–12%</a:t>
            </a:r>
            <a:endParaRPr lang="en-US" sz="1900">
              <a:solidFill>
                <a:srgbClr val="4EA1FF"/>
              </a:solidFill>
              <a:latin typeface="Aptos"/>
            </a:endParaRPr>
          </a:p>
        </p:txBody>
      </p:sp>
      <p:sp>
        <p:nvSpPr>
          <p:cNvPr id="37" name="TextBox 38"/>
          <p:cNvSpPr txBox="1"/>
          <p:nvPr/>
        </p:nvSpPr>
        <p:spPr>
          <a:xfrm>
            <a:off x="6949440" y="501091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50" b="1">
                <a:solidFill>
                  <a:srgbClr val="F4F8FB"/>
                </a:solidFill>
                <a:latin typeface="Aptos"/>
              </a:rPr>
              <a:t>bus p90 time</a:t>
            </a:r>
            <a:endParaRPr lang="en-US" sz="9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38" name="TextBox 39"/>
          <p:cNvSpPr txBox="1"/>
          <p:nvPr/>
        </p:nvSpPr>
        <p:spPr>
          <a:xfrm>
            <a:off x="8887968" y="499262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900" b="1">
                <a:solidFill>
                  <a:srgbClr val="FFB547"/>
                </a:solidFill>
                <a:latin typeface="Aptos"/>
              </a:rPr>
              <a:t>≥95%</a:t>
            </a:r>
            <a:endParaRPr lang="en-US" sz="1900">
              <a:solidFill>
                <a:srgbClr val="FFB547"/>
              </a:solidFill>
              <a:latin typeface="Aptos"/>
            </a:endParaRPr>
          </a:p>
        </p:txBody>
      </p:sp>
      <p:sp>
        <p:nvSpPr>
          <p:cNvPr id="39" name="TextBox 40"/>
          <p:cNvSpPr txBox="1"/>
          <p:nvPr/>
        </p:nvSpPr>
        <p:spPr>
          <a:xfrm>
            <a:off x="9692640" y="501091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50" b="1">
                <a:solidFill>
                  <a:srgbClr val="F4F8FB"/>
                </a:solidFill>
                <a:latin typeface="Aptos"/>
              </a:rPr>
              <a:t>detector uptime</a:t>
            </a:r>
            <a:endParaRPr lang="en-US" sz="950">
              <a:solidFill>
                <a:srgbClr val="F4F8FB"/>
              </a:solidFill>
              <a:latin typeface="Aptos"/>
            </a:endParaRPr>
          </a:p>
        </p:txBody>
      </p:sp>
      <p:sp>
        <p:nvSpPr>
          <p:cNvPr id="40" name="Shape 41"/>
          <p:cNvSpPr/>
          <p:nvPr/>
        </p:nvSpPr>
        <p:spPr>
          <a:xfrm>
            <a:off x="658368" y="5696712"/>
            <a:ext cx="10881360" cy="429768"/>
          </a:xfrm>
          <a:prstGeom prst="roundRect">
            <a:avLst/>
          </a:prstGeom>
          <a:solidFill>
            <a:srgbClr val="143244"/>
          </a:solidFill>
          <a:ln>
            <a:noFill/>
          </a:ln>
        </p:spPr>
      </p:sp>
      <p:sp>
        <p:nvSpPr>
          <p:cNvPr id="41" name="TextBox 42"/>
          <p:cNvSpPr txBox="1"/>
          <p:nvPr/>
        </p:nvSpPr>
        <p:spPr>
          <a:xfrm>
            <a:off x="960120" y="5797296"/>
            <a:ext cx="101955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30" b="1">
                <a:solidFill>
                  <a:srgbClr val="F4F8FB"/>
                </a:solidFill>
                <a:latin typeface="Aptos"/>
              </a:rPr>
              <a:t>SAFETY GATE: validated minimum greens + red clearance + automatic fallback to approved timings</a:t>
            </a:r>
            <a:endParaRPr lang="en-US" sz="1030">
              <a:solidFill>
                <a:srgbClr val="F4F8FB"/>
              </a:solidFill>
              <a:latin typeface="Aptos"/>
            </a:endParaRPr>
          </a:p>
        </p:txBody>
      </p:sp>
      <p:sp>
        <p:nvSpPr>
          <p:cNvPr id="42" name="Shape 43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43" name="TextBox 44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Durations and KPI thresholds are proposed for planning; finalize after the baseline audit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44" name="TextBox 45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TextBox 4"/>
          <p:cNvSpPr txBox="1"/>
          <p:nvPr/>
        </p:nvSpPr>
        <p:spPr>
          <a:xfrm>
            <a:off x="502920" y="21945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19D3B3"/>
                </a:solidFill>
                <a:latin typeface="Aptos"/>
              </a:rPr>
              <a:t>INDIAN DEPLOYMENT</a:t>
            </a:r>
            <a:endParaRPr lang="en-US" sz="9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02920" y="4389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500" b="1">
                <a:solidFill>
                  <a:srgbClr val="F4F8FB"/>
                </a:solidFill>
                <a:latin typeface="Aptos"/>
              </a:rPr>
              <a:t>Advantages, challenges—and safeguards</a:t>
            </a:r>
            <a:endParaRPr lang="en-US" sz="25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9DB3C2"/>
                </a:solidFill>
                <a:latin typeface="Aptos"/>
              </a:rPr>
              <a:t>19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pic>
        <p:nvPicPr>
          <p:cNvPr id="7" name="Picture 8"/>
          <p:cNvPicPr>
            <a:picLocks noChangeAspect="1"/>
          </p:cNvPicPr>
          <p:nvPr/>
        </p:nvPicPr>
        <p:blipFill>
          <a:blip r:embed="rId2"/>
          <a:srcRect l="0" t="19365" r="0" b="19365"/>
          <a:stretch>
            <a:fillRect/>
          </a:stretch>
        </p:blipFill>
        <p:spPr>
          <a:xfrm>
            <a:off x="502920" y="1188720"/>
            <a:ext cx="11183112" cy="5138928"/>
          </a:xfrm>
          <a:prstGeom prst="rect">
            <a:avLst/>
          </a:prstGeom>
          <a:ln>
            <a:noFill/>
          </a:ln>
        </p:spPr>
      </p:pic>
      <p:sp>
        <p:nvSpPr>
          <p:cNvPr id="8" name="Shape 9"/>
          <p:cNvSpPr/>
          <p:nvPr/>
        </p:nvSpPr>
        <p:spPr>
          <a:xfrm>
            <a:off x="502920" y="1188720"/>
            <a:ext cx="11183112" cy="5138928"/>
          </a:xfrm>
          <a:prstGeom prst="rect">
            <a:avLst/>
          </a:prstGeom>
          <a:solidFill>
            <a:srgbClr val="07131F">
              <a:alpha val="80000"/>
            </a:srgbClr>
          </a:solidFill>
          <a:ln>
            <a:noFill/>
          </a:ln>
        </p:spPr>
      </p:sp>
      <p:sp>
        <p:nvSpPr>
          <p:cNvPr id="9" name="Shape 10"/>
          <p:cNvSpPr/>
          <p:nvPr/>
        </p:nvSpPr>
        <p:spPr>
          <a:xfrm>
            <a:off x="502920" y="1188720"/>
            <a:ext cx="11183112" cy="5138928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sp>
        <p:nvSpPr>
          <p:cNvPr id="10" name="TextBox 11"/>
          <p:cNvSpPr txBox="1"/>
          <p:nvPr/>
        </p:nvSpPr>
        <p:spPr>
          <a:xfrm>
            <a:off x="777240" y="1481328"/>
            <a:ext cx="4983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B7F34A"/>
                </a:solidFill>
                <a:latin typeface="Aptos"/>
              </a:rPr>
              <a:t>ADVANTAGES</a:t>
            </a:r>
            <a:endParaRPr lang="en-US" sz="17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11" name="TextBox 12"/>
          <p:cNvSpPr txBox="1"/>
          <p:nvPr/>
        </p:nvSpPr>
        <p:spPr>
          <a:xfrm>
            <a:off x="6263640" y="1481328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FFB547"/>
                </a:solidFill>
                <a:latin typeface="Aptos"/>
              </a:rPr>
              <a:t>CHALLENGES + RESPONSE</a:t>
            </a:r>
            <a:endParaRPr lang="en-US" sz="1700">
              <a:solidFill>
                <a:srgbClr val="FFB547"/>
              </a:solidFill>
              <a:latin typeface="Aptos"/>
            </a:endParaRPr>
          </a:p>
        </p:txBody>
      </p:sp>
      <p:sp>
        <p:nvSpPr>
          <p:cNvPr id="12" name="Shape 13"/>
          <p:cNvSpPr/>
          <p:nvPr/>
        </p:nvSpPr>
        <p:spPr>
          <a:xfrm>
            <a:off x="758952" y="1993392"/>
            <a:ext cx="4937760" cy="768096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13" name="Shape 14"/>
          <p:cNvSpPr/>
          <p:nvPr/>
        </p:nvSpPr>
        <p:spPr>
          <a:xfrm>
            <a:off x="758952" y="1993392"/>
            <a:ext cx="54864" cy="768096"/>
          </a:xfrm>
          <a:prstGeom prst="roundRect">
            <a:avLst/>
          </a:prstGeom>
          <a:solidFill>
            <a:srgbClr val="B7F34A"/>
          </a:solidFill>
          <a:ln>
            <a:noFill/>
          </a:ln>
        </p:spPr>
      </p:sp>
      <p:sp>
        <p:nvSpPr>
          <p:cNvPr id="14" name="TextBox 15"/>
          <p:cNvSpPr txBox="1"/>
          <p:nvPr/>
        </p:nvSpPr>
        <p:spPr>
          <a:xfrm>
            <a:off x="960120" y="2130552"/>
            <a:ext cx="459028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Fewer stops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5" name="TextBox 16"/>
          <p:cNvSpPr txBox="1"/>
          <p:nvPr/>
        </p:nvSpPr>
        <p:spPr>
          <a:xfrm>
            <a:off x="960120" y="2496312"/>
            <a:ext cx="459028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network coordination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6" name="Shape 17"/>
          <p:cNvSpPr/>
          <p:nvPr/>
        </p:nvSpPr>
        <p:spPr>
          <a:xfrm>
            <a:off x="758952" y="2926080"/>
            <a:ext cx="4937760" cy="768096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17" name="Shape 18"/>
          <p:cNvSpPr/>
          <p:nvPr/>
        </p:nvSpPr>
        <p:spPr>
          <a:xfrm>
            <a:off x="758952" y="2926080"/>
            <a:ext cx="54864" cy="768096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18" name="TextBox 19"/>
          <p:cNvSpPr txBox="1"/>
          <p:nvPr/>
        </p:nvSpPr>
        <p:spPr>
          <a:xfrm>
            <a:off x="960120" y="3063240"/>
            <a:ext cx="459028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More reliable buses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9" name="TextBox 20"/>
          <p:cNvSpPr txBox="1"/>
          <p:nvPr/>
        </p:nvSpPr>
        <p:spPr>
          <a:xfrm>
            <a:off x="960120" y="3429000"/>
            <a:ext cx="459028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conditional priority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0" name="Shape 21"/>
          <p:cNvSpPr/>
          <p:nvPr/>
        </p:nvSpPr>
        <p:spPr>
          <a:xfrm>
            <a:off x="758952" y="3858768"/>
            <a:ext cx="4937760" cy="768096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21" name="Shape 22"/>
          <p:cNvSpPr/>
          <p:nvPr/>
        </p:nvSpPr>
        <p:spPr>
          <a:xfrm>
            <a:off x="758952" y="3858768"/>
            <a:ext cx="54864" cy="768096"/>
          </a:xfrm>
          <a:prstGeom prst="roundRect">
            <a:avLst/>
          </a:prstGeom>
          <a:solidFill>
            <a:srgbClr val="4EA1FF"/>
          </a:solidFill>
          <a:ln>
            <a:noFill/>
          </a:ln>
        </p:spPr>
      </p:sp>
      <p:sp>
        <p:nvSpPr>
          <p:cNvPr id="22" name="TextBox 23"/>
          <p:cNvSpPr txBox="1"/>
          <p:nvPr/>
        </p:nvSpPr>
        <p:spPr>
          <a:xfrm>
            <a:off x="960120" y="3995928"/>
            <a:ext cx="459028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Earlier incident response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3" name="TextBox 24"/>
          <p:cNvSpPr txBox="1"/>
          <p:nvPr/>
        </p:nvSpPr>
        <p:spPr>
          <a:xfrm>
            <a:off x="960120" y="4361688"/>
            <a:ext cx="459028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predictive anomalies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4" name="Shape 25"/>
          <p:cNvSpPr/>
          <p:nvPr/>
        </p:nvSpPr>
        <p:spPr>
          <a:xfrm>
            <a:off x="758952" y="4791456"/>
            <a:ext cx="4937760" cy="768096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25" name="Shape 26"/>
          <p:cNvSpPr/>
          <p:nvPr/>
        </p:nvSpPr>
        <p:spPr>
          <a:xfrm>
            <a:off x="758952" y="4791456"/>
            <a:ext cx="54864" cy="768096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26" name="TextBox 27"/>
          <p:cNvSpPr txBox="1"/>
          <p:nvPr/>
        </p:nvSpPr>
        <p:spPr>
          <a:xfrm>
            <a:off x="960120" y="4928616"/>
            <a:ext cx="459028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Transparent performance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27" name="TextBox 28"/>
          <p:cNvSpPr txBox="1"/>
          <p:nvPr/>
        </p:nvSpPr>
        <p:spPr>
          <a:xfrm>
            <a:off x="960120" y="5294376"/>
            <a:ext cx="459028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live KPIs + audit trail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28" name="Shape 29"/>
          <p:cNvSpPr/>
          <p:nvPr/>
        </p:nvSpPr>
        <p:spPr>
          <a:xfrm>
            <a:off x="6236208" y="1993392"/>
            <a:ext cx="4937760" cy="768096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29" name="Shape 30"/>
          <p:cNvSpPr/>
          <p:nvPr/>
        </p:nvSpPr>
        <p:spPr>
          <a:xfrm>
            <a:off x="6236208" y="1993392"/>
            <a:ext cx="54864" cy="768096"/>
          </a:xfrm>
          <a:prstGeom prst="roundRect">
            <a:avLst/>
          </a:prstGeom>
          <a:solidFill>
            <a:srgbClr val="FFB547"/>
          </a:solidFill>
          <a:ln>
            <a:noFill/>
          </a:ln>
        </p:spPr>
      </p:sp>
      <p:sp>
        <p:nvSpPr>
          <p:cNvPr id="30" name="TextBox 31"/>
          <p:cNvSpPr txBox="1"/>
          <p:nvPr/>
        </p:nvSpPr>
        <p:spPr>
          <a:xfrm>
            <a:off x="6437376" y="2130552"/>
            <a:ext cx="459028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Mixed, weak lane discipline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31" name="TextBox 32"/>
          <p:cNvSpPr txBox="1"/>
          <p:nvPr/>
        </p:nvSpPr>
        <p:spPr>
          <a:xfrm>
            <a:off x="6437376" y="2496312"/>
            <a:ext cx="459028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train + calibrate on local classes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2" name="Shape 33"/>
          <p:cNvSpPr/>
          <p:nvPr/>
        </p:nvSpPr>
        <p:spPr>
          <a:xfrm>
            <a:off x="6236208" y="2926080"/>
            <a:ext cx="4937760" cy="768096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33" name="Shape 34"/>
          <p:cNvSpPr/>
          <p:nvPr/>
        </p:nvSpPr>
        <p:spPr>
          <a:xfrm>
            <a:off x="6236208" y="2926080"/>
            <a:ext cx="54864" cy="768096"/>
          </a:xfrm>
          <a:prstGeom prst="roundRect">
            <a:avLst/>
          </a:prstGeom>
          <a:solidFill>
            <a:srgbClr val="4EA1FF"/>
          </a:solidFill>
          <a:ln>
            <a:noFill/>
          </a:ln>
        </p:spPr>
      </p:sp>
      <p:sp>
        <p:nvSpPr>
          <p:cNvPr id="34" name="TextBox 35"/>
          <p:cNvSpPr txBox="1"/>
          <p:nvPr/>
        </p:nvSpPr>
        <p:spPr>
          <a:xfrm>
            <a:off x="6437376" y="3063240"/>
            <a:ext cx="459028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Monsoon + occlusion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35" name="TextBox 36"/>
          <p:cNvSpPr txBox="1"/>
          <p:nvPr/>
        </p:nvSpPr>
        <p:spPr>
          <a:xfrm>
            <a:off x="6437376" y="3429000"/>
            <a:ext cx="459028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sensor fusion + health monitoring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6" name="Shape 37"/>
          <p:cNvSpPr/>
          <p:nvPr/>
        </p:nvSpPr>
        <p:spPr>
          <a:xfrm>
            <a:off x="6236208" y="3858768"/>
            <a:ext cx="4937760" cy="768096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37" name="Shape 38"/>
          <p:cNvSpPr/>
          <p:nvPr/>
        </p:nvSpPr>
        <p:spPr>
          <a:xfrm>
            <a:off x="6236208" y="3858768"/>
            <a:ext cx="54864" cy="768096"/>
          </a:xfrm>
          <a:prstGeom prst="roundRect">
            <a:avLst/>
          </a:prstGeom>
          <a:solidFill>
            <a:srgbClr val="FF667A"/>
          </a:solidFill>
          <a:ln>
            <a:noFill/>
          </a:ln>
        </p:spPr>
      </p:sp>
      <p:sp>
        <p:nvSpPr>
          <p:cNvPr id="38" name="TextBox 39"/>
          <p:cNvSpPr txBox="1"/>
          <p:nvPr/>
        </p:nvSpPr>
        <p:spPr>
          <a:xfrm>
            <a:off x="6437376" y="3995928"/>
            <a:ext cx="459028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Legacy interfaces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39" name="TextBox 40"/>
          <p:cNvSpPr txBox="1"/>
          <p:nvPr/>
        </p:nvSpPr>
        <p:spPr>
          <a:xfrm>
            <a:off x="6437376" y="4361688"/>
            <a:ext cx="459028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controller audit + tested gateway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40" name="Shape 41"/>
          <p:cNvSpPr/>
          <p:nvPr/>
        </p:nvSpPr>
        <p:spPr>
          <a:xfrm>
            <a:off x="6236208" y="4791456"/>
            <a:ext cx="4937760" cy="768096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41" name="Shape 42"/>
          <p:cNvSpPr/>
          <p:nvPr/>
        </p:nvSpPr>
        <p:spPr>
          <a:xfrm>
            <a:off x="6236208" y="4791456"/>
            <a:ext cx="54864" cy="768096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42" name="TextBox 43"/>
          <p:cNvSpPr txBox="1"/>
          <p:nvPr/>
        </p:nvSpPr>
        <p:spPr>
          <a:xfrm>
            <a:off x="6437376" y="4928616"/>
            <a:ext cx="459028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Power, data, skills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43" name="TextBox 44"/>
          <p:cNvSpPr txBox="1"/>
          <p:nvPr/>
        </p:nvSpPr>
        <p:spPr>
          <a:xfrm>
            <a:off x="6437376" y="5294376"/>
            <a:ext cx="459028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UPS + fallback + role-based ops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44" name="TextBox 45"/>
          <p:cNvSpPr txBox="1"/>
          <p:nvPr/>
        </p:nvSpPr>
        <p:spPr>
          <a:xfrm>
            <a:off x="1143000" y="5925312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>
                <a:solidFill>
                  <a:srgbClr val="F4F8FB"/>
                </a:solidFill>
                <a:latin typeface="Aptos"/>
              </a:rPr>
              <a:t>Optimisation is useful only when detection, safety and operations are dependable.</a:t>
            </a:r>
            <a:endParaRPr lang="en-US" sz="14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45" name="Shape 46"/>
          <p:cNvSpPr/>
          <p:nvPr/>
        </p:nvSpPr>
        <p:spPr>
          <a:xfrm>
            <a:off x="502920" y="6519672"/>
            <a:ext cx="11155680" cy="10973"/>
          </a:xfrm>
          <a:prstGeom prst="rect">
            <a:avLst/>
          </a:prstGeom>
          <a:solidFill>
            <a:srgbClr val="1C384A"/>
          </a:solidFill>
          <a:ln>
            <a:noFill/>
          </a:ln>
        </p:spPr>
      </p:sp>
      <p:sp>
        <p:nvSpPr>
          <p:cNvPr id="46" name="TextBox 47"/>
          <p:cNvSpPr txBox="1"/>
          <p:nvPr/>
        </p:nvSpPr>
        <p:spPr>
          <a:xfrm>
            <a:off x="502920" y="656539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720">
                <a:solidFill>
                  <a:srgbClr val="6F8798"/>
                </a:solidFill>
                <a:latin typeface="Aptos"/>
              </a:rPr>
              <a:t>Challenge analysis authored for Bengaluru conditions • Background visual: DI-drive open-source simulator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  <p:sp>
        <p:nvSpPr>
          <p:cNvPr id="47" name="TextBox 48"/>
          <p:cNvSpPr txBox="1"/>
          <p:nvPr/>
        </p:nvSpPr>
        <p:spPr>
          <a:xfrm>
            <a:off x="9235440" y="656539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72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72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</p:sp>
      <p:sp>
        <p:nvSpPr>
          <p:cNvPr id="3" name="Shape 4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7F34A"/>
          </a:solidFill>
          <a:ln>
            <a:noFill/>
          </a:ln>
        </p:spPr>
      </p:sp>
      <p:sp>
        <p:nvSpPr>
          <p:cNvPr id="4" name="TextBox 5"/>
          <p:cNvSpPr txBox="1"/>
          <p:nvPr/>
        </p:nvSpPr>
        <p:spPr>
          <a:xfrm>
            <a:off x="594360" y="658368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800" b="1">
                <a:solidFill>
                  <a:srgbClr val="F4F8FB"/>
                </a:solidFill>
                <a:latin typeface="Aptos"/>
              </a:rPr>
              <a:t>START WITH ONE CORRIDOR.</a:t>
            </a:r>
            <a:endParaRPr lang="en-US" sz="28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594360" y="1298448"/>
            <a:ext cx="758952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3000" b="1">
                <a:solidFill>
                  <a:srgbClr val="B7F34A"/>
                </a:solidFill>
                <a:latin typeface="Aptos"/>
              </a:rPr>
              <a:t>PROVE IT. SCALE BY EVIDENCE.</a:t>
            </a:r>
            <a:endParaRPr lang="en-US" sz="3000">
              <a:solidFill>
                <a:srgbClr val="B7F34A"/>
              </a:solidFill>
              <a:latin typeface="Aptos"/>
            </a:endParaRPr>
          </a:p>
        </p:txBody>
      </p:sp>
      <p:sp>
        <p:nvSpPr>
          <p:cNvPr id="6" name="Shape 7"/>
          <p:cNvSpPr/>
          <p:nvPr/>
        </p:nvSpPr>
        <p:spPr>
          <a:xfrm>
            <a:off x="612648" y="2212848"/>
            <a:ext cx="2331720" cy="1024128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7" name="Shape 8"/>
          <p:cNvSpPr/>
          <p:nvPr/>
        </p:nvSpPr>
        <p:spPr>
          <a:xfrm>
            <a:off x="612648" y="2212848"/>
            <a:ext cx="54864" cy="1024128"/>
          </a:xfrm>
          <a:prstGeom prst="roundRect">
            <a:avLst/>
          </a:prstGeom>
          <a:solidFill>
            <a:srgbClr val="4EA1FF"/>
          </a:solidFill>
          <a:ln>
            <a:noFill/>
          </a:ln>
        </p:spPr>
      </p:sp>
      <p:sp>
        <p:nvSpPr>
          <p:cNvPr id="8" name="TextBox 9"/>
          <p:cNvSpPr txBox="1"/>
          <p:nvPr/>
        </p:nvSpPr>
        <p:spPr>
          <a:xfrm>
            <a:off x="813816" y="2350008"/>
            <a:ext cx="198424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BASELINE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813816" y="2715768"/>
            <a:ext cx="19842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before activation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0" name="Shape 11"/>
          <p:cNvSpPr/>
          <p:nvPr/>
        </p:nvSpPr>
        <p:spPr>
          <a:xfrm>
            <a:off x="3145536" y="2212848"/>
            <a:ext cx="2331720" cy="1024128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11" name="Shape 12"/>
          <p:cNvSpPr/>
          <p:nvPr/>
        </p:nvSpPr>
        <p:spPr>
          <a:xfrm>
            <a:off x="3145536" y="2212848"/>
            <a:ext cx="54864" cy="1024128"/>
          </a:xfrm>
          <a:prstGeom prst="roundRect">
            <a:avLst/>
          </a:prstGeom>
          <a:solidFill>
            <a:srgbClr val="FFB547"/>
          </a:solidFill>
          <a:ln>
            <a:noFill/>
          </a:ln>
        </p:spPr>
      </p:sp>
      <p:sp>
        <p:nvSpPr>
          <p:cNvPr id="12" name="TextBox 13"/>
          <p:cNvSpPr txBox="1"/>
          <p:nvPr/>
        </p:nvSpPr>
        <p:spPr>
          <a:xfrm>
            <a:off x="3346704" y="2350008"/>
            <a:ext cx="198424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FAIL-SAFE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3" name="TextBox 14"/>
          <p:cNvSpPr txBox="1"/>
          <p:nvPr/>
        </p:nvSpPr>
        <p:spPr>
          <a:xfrm>
            <a:off x="3346704" y="2715768"/>
            <a:ext cx="19842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approved timings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4" name="Shape 15"/>
          <p:cNvSpPr/>
          <p:nvPr/>
        </p:nvSpPr>
        <p:spPr>
          <a:xfrm>
            <a:off x="5678424" y="2212848"/>
            <a:ext cx="2331720" cy="1024128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15" name="Shape 16"/>
          <p:cNvSpPr/>
          <p:nvPr/>
        </p:nvSpPr>
        <p:spPr>
          <a:xfrm>
            <a:off x="5678424" y="2212848"/>
            <a:ext cx="54864" cy="1024128"/>
          </a:xfrm>
          <a:prstGeom prst="roundRect">
            <a:avLst/>
          </a:prstGeom>
          <a:solidFill>
            <a:srgbClr val="19D3B3"/>
          </a:solidFill>
          <a:ln>
            <a:noFill/>
          </a:ln>
        </p:spPr>
      </p:sp>
      <p:sp>
        <p:nvSpPr>
          <p:cNvPr id="16" name="TextBox 17"/>
          <p:cNvSpPr txBox="1"/>
          <p:nvPr/>
        </p:nvSpPr>
        <p:spPr>
          <a:xfrm>
            <a:off x="5879592" y="2350008"/>
            <a:ext cx="1984248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4F8FB"/>
                </a:solidFill>
                <a:latin typeface="Aptos"/>
              </a:rPr>
              <a:t>OPEN KPIs</a:t>
            </a:r>
            <a:endParaRPr lang="en-US" sz="1300">
              <a:solidFill>
                <a:srgbClr val="F4F8FB"/>
              </a:solidFill>
              <a:latin typeface="Aptos"/>
            </a:endParaRPr>
          </a:p>
        </p:txBody>
      </p:sp>
      <p:sp>
        <p:nvSpPr>
          <p:cNvPr id="17" name="TextBox 18"/>
          <p:cNvSpPr txBox="1"/>
          <p:nvPr/>
        </p:nvSpPr>
        <p:spPr>
          <a:xfrm>
            <a:off x="5879592" y="2715768"/>
            <a:ext cx="19842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>
                <a:solidFill>
                  <a:srgbClr val="9DB3C2"/>
                </a:solidFill>
                <a:latin typeface="Aptos"/>
              </a:rPr>
              <a:t>public outcomes</a:t>
            </a:r>
            <a:endParaRPr lang="en-US" sz="105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8" name="TextBox 19"/>
          <p:cNvSpPr txBox="1"/>
          <p:nvPr/>
        </p:nvSpPr>
        <p:spPr>
          <a:xfrm>
            <a:off x="612648" y="361188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9DB3C2"/>
                </a:solidFill>
                <a:latin typeface="Aptos"/>
              </a:rPr>
              <a:t>The recommendation</a:t>
            </a:r>
            <a:endParaRPr lang="en-US" sz="1000">
              <a:solidFill>
                <a:srgbClr val="9DB3C2"/>
              </a:solidFill>
              <a:latin typeface="Aptos"/>
            </a:endParaRPr>
          </a:p>
        </p:txBody>
      </p:sp>
      <p:sp>
        <p:nvSpPr>
          <p:cNvPr id="19" name="TextBox 20"/>
          <p:cNvSpPr txBox="1"/>
          <p:nvPr/>
        </p:nvSpPr>
        <p:spPr>
          <a:xfrm>
            <a:off x="612648" y="3995928"/>
            <a:ext cx="708660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000" b="1">
                <a:solidFill>
                  <a:srgbClr val="F4F8FB"/>
                </a:solidFill>
                <a:latin typeface="Aptos"/>
              </a:rPr>
              <a:t>A measured Bengaluru corridor pilot that treats AI as a controlled transport intervention.</a:t>
            </a:r>
            <a:endParaRPr lang="en-US" sz="2000">
              <a:solidFill>
                <a:srgbClr val="F4F8FB"/>
              </a:solidFill>
              <a:latin typeface="Aptos"/>
            </a:endParaRPr>
          </a:p>
        </p:txBody>
      </p:sp>
      <p:pic>
        <p:nvPicPr>
          <p:cNvPr id="20" name="Picture 21"/>
          <p:cNvPicPr>
            <a:picLocks noChangeAspect="1"/>
          </p:cNvPicPr>
          <p:nvPr/>
        </p:nvPicPr>
        <p:blipFill>
          <a:blip r:embed="rId2"/>
          <a:srcRect l="8095" t="0" r="8095" b="0"/>
          <a:stretch>
            <a:fillRect/>
          </a:stretch>
        </p:blipFill>
        <p:spPr>
          <a:xfrm>
            <a:off x="612648" y="5166360"/>
            <a:ext cx="1609344" cy="960120"/>
          </a:xfrm>
          <a:prstGeom prst="rect">
            <a:avLst/>
          </a:prstGeom>
          <a:ln>
            <a:noFill/>
          </a:ln>
        </p:spPr>
      </p:pic>
      <p:sp>
        <p:nvSpPr>
          <p:cNvPr id="21" name="Shape 22"/>
          <p:cNvSpPr/>
          <p:nvPr/>
        </p:nvSpPr>
        <p:spPr>
          <a:xfrm>
            <a:off x="612648" y="5166360"/>
            <a:ext cx="1609344" cy="960120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pic>
        <p:nvPicPr>
          <p:cNvPr id="22" name="Picture 23"/>
          <p:cNvPicPr>
            <a:picLocks noChangeAspect="1"/>
          </p:cNvPicPr>
          <p:nvPr/>
        </p:nvPicPr>
        <p:blipFill>
          <a:blip r:embed="rId3"/>
          <a:srcRect l="0" t="17673" r="0" b="17673"/>
          <a:stretch>
            <a:fillRect/>
          </a:stretch>
        </p:blipFill>
        <p:spPr>
          <a:xfrm>
            <a:off x="2359152" y="5166360"/>
            <a:ext cx="1609344" cy="960120"/>
          </a:xfrm>
          <a:prstGeom prst="rect">
            <a:avLst/>
          </a:prstGeom>
          <a:ln>
            <a:noFill/>
          </a:ln>
        </p:spPr>
      </p:pic>
      <p:sp>
        <p:nvSpPr>
          <p:cNvPr id="23" name="Shape 24"/>
          <p:cNvSpPr/>
          <p:nvPr/>
        </p:nvSpPr>
        <p:spPr>
          <a:xfrm>
            <a:off x="2359152" y="5166360"/>
            <a:ext cx="1609344" cy="960120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pic>
        <p:nvPicPr>
          <p:cNvPr id="24" name="Picture 25"/>
          <p:cNvPicPr>
            <a:picLocks noChangeAspect="1"/>
          </p:cNvPicPr>
          <p:nvPr/>
        </p:nvPicPr>
        <p:blipFill>
          <a:blip r:embed="rId4"/>
          <a:srcRect l="0" t="10333" r="0" b="10333"/>
          <a:stretch>
            <a:fillRect/>
          </a:stretch>
        </p:blipFill>
        <p:spPr>
          <a:xfrm>
            <a:off x="4105656" y="5166360"/>
            <a:ext cx="1609344" cy="960120"/>
          </a:xfrm>
          <a:prstGeom prst="rect">
            <a:avLst/>
          </a:prstGeom>
          <a:ln>
            <a:noFill/>
          </a:ln>
        </p:spPr>
      </p:pic>
      <p:sp>
        <p:nvSpPr>
          <p:cNvPr id="25" name="Shape 26"/>
          <p:cNvSpPr/>
          <p:nvPr/>
        </p:nvSpPr>
        <p:spPr>
          <a:xfrm>
            <a:off x="4105656" y="5166360"/>
            <a:ext cx="1609344" cy="960120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pic>
        <p:nvPicPr>
          <p:cNvPr id="26" name="Picture 27"/>
          <p:cNvPicPr>
            <a:picLocks noChangeAspect="1"/>
          </p:cNvPicPr>
          <p:nvPr/>
        </p:nvPicPr>
        <p:blipFill>
          <a:blip r:embed="rId5"/>
          <a:srcRect l="0" t="5873" r="0" b="5873"/>
          <a:stretch>
            <a:fillRect/>
          </a:stretch>
        </p:blipFill>
        <p:spPr>
          <a:xfrm>
            <a:off x="5852160" y="5166360"/>
            <a:ext cx="1609344" cy="960120"/>
          </a:xfrm>
          <a:prstGeom prst="rect">
            <a:avLst/>
          </a:prstGeom>
          <a:ln>
            <a:noFill/>
          </a:ln>
        </p:spPr>
      </p:pic>
      <p:sp>
        <p:nvSpPr>
          <p:cNvPr id="27" name="Shape 28"/>
          <p:cNvSpPr/>
          <p:nvPr/>
        </p:nvSpPr>
        <p:spPr>
          <a:xfrm>
            <a:off x="5852160" y="5166360"/>
            <a:ext cx="1609344" cy="960120"/>
          </a:xfrm>
          <a:prstGeom prst="rect">
            <a:avLst/>
          </a:prstGeom>
          <a:noFill/>
          <a:ln w="16510">
            <a:solidFill>
              <a:srgbClr val="1C384A"/>
            </a:solidFill>
            <a:prstDash val="solid"/>
          </a:ln>
        </p:spPr>
      </p:sp>
      <p:sp>
        <p:nvSpPr>
          <p:cNvPr id="28" name="Shape 29"/>
          <p:cNvSpPr/>
          <p:nvPr/>
        </p:nvSpPr>
        <p:spPr>
          <a:xfrm>
            <a:off x="7973568" y="566928"/>
            <a:ext cx="3657600" cy="5559552"/>
          </a:xfrm>
          <a:prstGeom prst="roundRect">
            <a:avLst/>
          </a:prstGeom>
          <a:solidFill>
            <a:srgbClr val="0E2332"/>
          </a:solidFill>
          <a:ln w="12700">
            <a:solidFill>
              <a:srgbClr val="1C384A"/>
            </a:solidFill>
            <a:prstDash val="solid"/>
          </a:ln>
        </p:spPr>
      </p:sp>
      <p:sp>
        <p:nvSpPr>
          <p:cNvPr id="29" name="TextBox 30"/>
          <p:cNvSpPr txBox="1"/>
          <p:nvPr/>
        </p:nvSpPr>
        <p:spPr>
          <a:xfrm>
            <a:off x="8247888" y="86868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9D3B3"/>
                </a:solidFill>
                <a:latin typeface="Aptos"/>
              </a:rPr>
              <a:t>KEY SOURCES</a:t>
            </a:r>
            <a:endParaRPr lang="en-US" sz="1400">
              <a:solidFill>
                <a:srgbClr val="19D3B3"/>
              </a:solidFill>
              <a:latin typeface="Aptos"/>
            </a:endParaRPr>
          </a:p>
        </p:txBody>
      </p:sp>
      <p:sp>
        <p:nvSpPr>
          <p:cNvPr id="30" name="TextBox 31"/>
          <p:cNvSpPr txBox="1"/>
          <p:nvPr/>
        </p:nvSpPr>
        <p:spPr>
          <a:xfrm>
            <a:off x="8257032" y="1325880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en-US" sz="930">
                <a:solidFill>
                  <a:srgbClr val="F4F8FB"/>
                </a:solidFill>
                <a:latin typeface="Aptos"/>
              </a:rPr>
              <a:t>1. TRL Software — SCOOT 8 AI (2025)</a:t>
            </a:r>
            <a:endParaRPr lang="en-US" sz="930">
              <a:solidFill>
                <a:srgbClr val="F4F8FB"/>
              </a:solidFill>
              <a:latin typeface="Aptos"/>
            </a:endParaRPr>
          </a:p>
          <a:p>
            <a:pPr algn="l"/>
            <a:r>
              <a:rPr lang="en-US" sz="930">
                <a:solidFill>
                  <a:srgbClr val="F4F8FB"/>
                </a:solidFill>
                <a:latin typeface="Aptos"/>
              </a:rPr>
              <a:t>2. TRL — SCOOT 8 presentation (2024)</a:t>
            </a:r>
            <a:endParaRPr lang="en-US" sz="930">
              <a:solidFill>
                <a:srgbClr val="F4F8FB"/>
              </a:solidFill>
              <a:latin typeface="Aptos"/>
            </a:endParaRPr>
          </a:p>
          <a:p>
            <a:pPr algn="l"/>
            <a:r>
              <a:rPr lang="en-US" sz="930">
                <a:solidFill>
                  <a:srgbClr val="F4F8FB"/>
                </a:solidFill>
                <a:latin typeface="Aptos"/>
              </a:rPr>
              <a:t>3. FHWA — Traffic Detector Handbook</a:t>
            </a:r>
            <a:endParaRPr lang="en-US" sz="930">
              <a:solidFill>
                <a:srgbClr val="F4F8FB"/>
              </a:solidFill>
              <a:latin typeface="Aptos"/>
            </a:endParaRPr>
          </a:p>
          <a:p>
            <a:pPr algn="l"/>
            <a:r>
              <a:rPr lang="en-US" sz="930">
                <a:solidFill>
                  <a:srgbClr val="F4F8FB"/>
                </a:solidFill>
                <a:latin typeface="Aptos"/>
              </a:rPr>
              <a:t>4. SCATS — official system overview</a:t>
            </a:r>
            <a:endParaRPr lang="en-US" sz="930">
              <a:solidFill>
                <a:srgbClr val="F4F8FB"/>
              </a:solidFill>
              <a:latin typeface="Aptos"/>
            </a:endParaRPr>
          </a:p>
          <a:p>
            <a:pPr algn="l"/>
            <a:r>
              <a:rPr lang="en-US" sz="930">
                <a:solidFill>
                  <a:srgbClr val="F4F8FB"/>
                </a:solidFill>
                <a:latin typeface="Aptos"/>
              </a:rPr>
              <a:t>5. Carnegie Mellon — Surtrac (2019)</a:t>
            </a:r>
            <a:endParaRPr lang="en-US" sz="930">
              <a:solidFill>
                <a:srgbClr val="F4F8FB"/>
              </a:solidFill>
              <a:latin typeface="Aptos"/>
            </a:endParaRPr>
          </a:p>
          <a:p>
            <a:pPr algn="l"/>
            <a:r>
              <a:rPr lang="en-US" sz="930">
                <a:solidFill>
                  <a:srgbClr val="F4F8FB"/>
                </a:solidFill>
                <a:latin typeface="Aptos"/>
              </a:rPr>
              <a:t>6. TomTom — Bengaluru Traffic Index 2025</a:t>
            </a:r>
            <a:endParaRPr lang="en-US" sz="930">
              <a:solidFill>
                <a:srgbClr val="F4F8FB"/>
              </a:solidFill>
              <a:latin typeface="Aptos"/>
            </a:endParaRPr>
          </a:p>
          <a:p>
            <a:pPr algn="l"/>
            <a:r>
              <a:rPr lang="en-US" sz="930">
                <a:solidFill>
                  <a:srgbClr val="F4F8FB"/>
                </a:solidFill>
                <a:latin typeface="Aptos"/>
              </a:rPr>
              <a:t>7. Bengaluru Traffic Police — ATCS</a:t>
            </a:r>
            <a:endParaRPr lang="en-US" sz="930">
              <a:solidFill>
                <a:srgbClr val="F4F8FB"/>
              </a:solidFill>
              <a:latin typeface="Aptos"/>
            </a:endParaRPr>
          </a:p>
          <a:p>
            <a:pPr algn="l"/>
            <a:r>
              <a:rPr lang="en-US" sz="930">
                <a:solidFill>
                  <a:srgbClr val="F4F8FB"/>
                </a:solidFill>
                <a:latin typeface="Aptos"/>
              </a:rPr>
              <a:t>8. Indian Express — B-ATCS results (2024)</a:t>
            </a:r>
            <a:endParaRPr lang="en-US" sz="930">
              <a:solidFill>
                <a:srgbClr val="F4F8FB"/>
              </a:solidFill>
              <a:latin typeface="Aptos"/>
            </a:endParaRPr>
          </a:p>
          <a:p>
            <a:pPr algn="l"/>
            <a:r>
              <a:rPr lang="en-US" sz="930">
                <a:solidFill>
                  <a:srgbClr val="9DB3C2"/>
                </a:solidFill>
                <a:latin typeface="Aptos"/>
              </a:rPr>
              <a:t>9. Images: Wikispeedia/Wikipedia archive</a:t>
            </a:r>
            <a:endParaRPr lang="en-US" sz="930">
              <a:solidFill>
                <a:srgbClr val="9DB3C2"/>
              </a:solidFill>
              <a:latin typeface="Aptos"/>
            </a:endParaRPr>
          </a:p>
          <a:p>
            <a:pPr algn="l"/>
            <a:r>
              <a:rPr lang="en-US" sz="930">
                <a:solidFill>
                  <a:srgbClr val="9DB3C2"/>
                </a:solidFill>
                <a:latin typeface="Aptos"/>
              </a:rPr>
              <a:t>10. Images: Adaptive Traffic Signal Timer</a:t>
            </a:r>
            <a:endParaRPr lang="en-US" sz="930">
              <a:solidFill>
                <a:srgbClr val="9DB3C2"/>
              </a:solidFill>
              <a:latin typeface="Aptos"/>
            </a:endParaRPr>
          </a:p>
          <a:p>
            <a:pPr algn="l"/>
            <a:r>
              <a:rPr lang="en-US" sz="930">
                <a:solidFill>
                  <a:srgbClr val="9DB3C2"/>
                </a:solidFill>
                <a:latin typeface="Aptos"/>
              </a:rPr>
              <a:t>11. Images: Ultralytics • PyTorch • DI-drive</a:t>
            </a:r>
            <a:endParaRPr lang="en-US" sz="930">
              <a:solidFill>
                <a:srgbClr val="9DB3C2"/>
              </a:solidFill>
              <a:latin typeface="Aptos"/>
            </a:endParaRPr>
          </a:p>
        </p:txBody>
      </p:sp>
      <p:sp>
        <p:nvSpPr>
          <p:cNvPr id="31" name="TextBox 32"/>
          <p:cNvSpPr txBox="1"/>
          <p:nvPr/>
        </p:nvSpPr>
        <p:spPr>
          <a:xfrm>
            <a:off x="8257032" y="5641848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70" b="1">
                <a:solidFill>
                  <a:srgbClr val="B7F34A"/>
                </a:solidFill>
                <a:latin typeface="Aptos"/>
              </a:rPr>
              <a:t>Full links + speaking script are in the companion notes file.</a:t>
            </a:r>
            <a:endParaRPr lang="en-US" sz="870">
              <a:solidFill>
                <a:srgbClr val="B7F34A"/>
              </a:solidFill>
              <a:latin typeface="Aptos"/>
            </a:endParaRPr>
          </a:p>
        </p:txBody>
      </p:sp>
      <p:sp>
        <p:nvSpPr>
          <p:cNvPr id="32" name="TextBox 33"/>
          <p:cNvSpPr txBox="1"/>
          <p:nvPr/>
        </p:nvSpPr>
        <p:spPr>
          <a:xfrm>
            <a:off x="612648" y="651967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6F8798"/>
                </a:solidFill>
                <a:latin typeface="Aptos"/>
              </a:rPr>
              <a:t>Jitesh Anand • 124109004 • IIoT A-(1)</a:t>
            </a:r>
            <a:endParaRPr lang="en-US" sz="850">
              <a:solidFill>
                <a:srgbClr val="6F8798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OOT Dark">
  <a:themeElements>
    <a:clrScheme name="SCOOT">
      <a:dk1>
        <a:srgbClr val="06111A"/>
      </a:dk1>
      <a:lt1>
        <a:srgbClr val="F4F8FB"/>
      </a:lt1>
      <a:dk2>
        <a:srgbClr val="07131F"/>
      </a:dk2>
      <a:lt2>
        <a:srgbClr val="D9F7F1"/>
      </a:lt2>
      <a:accent1>
        <a:srgbClr val="19D3B3"/>
      </a:accent1>
      <a:accent2>
        <a:srgbClr val="B7F34A"/>
      </a:accent2>
      <a:accent3>
        <a:srgbClr val="4EA1FF"/>
      </a:accent3>
      <a:accent4>
        <a:srgbClr val="FFB547"/>
      </a:accent4>
      <a:accent5>
        <a:srgbClr val="A78BFA"/>
      </a:accent5>
      <a:accent6>
        <a:srgbClr val="FF667A"/>
      </a:accent6>
      <a:hlink>
        <a:srgbClr val="4EA1FF"/>
      </a:hlink>
      <a:folHlink>
        <a:srgbClr val="A78BFA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SCOOT">
      <a:fillStyleLst>
        <a:solidFill>
          <a:srgbClr val="19D3B3"/>
        </a:solidFill>
        <a:solidFill>
          <a:srgbClr val="0E2332"/>
        </a:solidFill>
        <a:gradFill rotWithShape="1">
          <a:gsLst>
            <a:gs pos="0">
              <a:solidFill>
                <a:srgbClr val="07131F"/>
              </a:solidFill>
            </a:gs>
            <a:gs pos="100000">
              <a:solidFill>
                <a:srgbClr val="143244"/>
              </a:solidFill>
            </a:gs>
          </a:gsLst>
          <a:lin ang="5400000" scaled="0"/>
        </a:gradFill>
      </a:fillStyleLst>
      <a:lnStyleLst>
        <a:ln w="12700">
          <a:solidFill>
            <a:srgbClr val="19D3B3"/>
          </a:solidFill>
          <a:prstDash val="solid"/>
        </a:ln>
        <a:ln w="25400">
          <a:solidFill>
            <a:srgbClr val="1C384A"/>
          </a:solidFill>
          <a:prstDash val="solid"/>
        </a:ln>
        <a:ln w="38100">
          <a:solidFill>
            <a:srgbClr val="B7F34A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07131F"/>
        </a:solidFill>
        <a:solidFill>
          <a:srgbClr val="0A1926"/>
        </a:solidFill>
        <a:solidFill>
          <a:srgbClr val="0E233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20</Slides>
  <Notes>0</Notes>
  <HiddenSlides>0</HiddenSlides>
  <MMClips>0</MMClips>
  <ScaleCrop>false</ScaleCrop>
  <Company>IIoT A-(1)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SCOOT 8 AI — Predictive Urban Traffic Control</dc:title>
  <dc:subject>Traffic management systems and proposed Bengaluru implementation</dc:subject>
  <dc:creator>Jitesh Anand</dc:creator>
  <cp:lastModifiedBy>Jitesh Anand</cp:lastModifiedBy>
  <dc:description>20-slide academic presentation with sourced statistics and internet visuals.</dc:description>
  <dcterms:created xsi:type="dcterms:W3CDTF">2026-09-14T12:00:00Z</dcterms:created>
  <dcterms:modified xsi:type="dcterms:W3CDTF">2026-09-14T12:00:00Z</dcterms:modified>
</cp:coreProperties>
</file>